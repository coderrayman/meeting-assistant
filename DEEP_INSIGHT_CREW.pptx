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libri" panose="020F0502020204030204" pitchFamily="34" charset="0"/>
      <p:regular r:id="rId11"/>
      <p:bold r:id="rId12"/>
      <p:italic r:id="rId13"/>
      <p:boldItalic r:id="rId14"/>
    </p:embeddedFont>
    <p:embeddedFont>
      <p:font typeface="DM Sans" pitchFamily="2" charset="0"/>
      <p:regular r:id="rId15"/>
    </p:embeddedFont>
    <p:embeddedFont>
      <p:font typeface="DM Sans Bold Italics" pitchFamily="2" charset="0"/>
      <p:regular r:id="rId16"/>
    </p:embeddedFont>
    <p:embeddedFont>
      <p:font typeface="DM Sans Italics" pitchFamily="2" charset="0"/>
      <p:regular r:id="rId17"/>
    </p:embeddedFont>
    <p:embeddedFont>
      <p:font typeface="Now Bold" pitchFamily="2"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1166"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font" Target="fonts/font3.fntdata" /><Relationship Id="rId18" Type="http://schemas.openxmlformats.org/officeDocument/2006/relationships/font" Target="fonts/font8.fntdata" /><Relationship Id="rId3" Type="http://schemas.openxmlformats.org/officeDocument/2006/relationships/slide" Target="slides/slide2.xml" /><Relationship Id="rId21"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font" Target="fonts/font2.fntdata" /><Relationship Id="rId17" Type="http://schemas.openxmlformats.org/officeDocument/2006/relationships/font" Target="fonts/font7.fntdata" /><Relationship Id="rId2" Type="http://schemas.openxmlformats.org/officeDocument/2006/relationships/slide" Target="slides/slide1.xml" /><Relationship Id="rId16" Type="http://schemas.openxmlformats.org/officeDocument/2006/relationships/font" Target="fonts/font6.fntdata" /><Relationship Id="rId20"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font" Target="fonts/font1.fntdata" /><Relationship Id="rId5" Type="http://schemas.openxmlformats.org/officeDocument/2006/relationships/slide" Target="slides/slide4.xml" /><Relationship Id="rId15" Type="http://schemas.openxmlformats.org/officeDocument/2006/relationships/font" Target="fonts/font5.fntdata" /><Relationship Id="rId10" Type="http://schemas.openxmlformats.org/officeDocument/2006/relationships/slide" Target="slides/slide9.xml" /><Relationship Id="rId19"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font" Target="fonts/font4.fntdata" /><Relationship Id="rId22"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 /><Relationship Id="rId3" Type="http://schemas.openxmlformats.org/officeDocument/2006/relationships/image" Target="../media/image2.png" /><Relationship Id="rId7" Type="http://schemas.openxmlformats.org/officeDocument/2006/relationships/image" Target="../media/image6.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9.svg" /><Relationship Id="rId4" Type="http://schemas.openxmlformats.org/officeDocument/2006/relationships/image" Target="../media/image8.png" /></Relationships>
</file>

<file path=ppt/slides/_rels/slide3.xml.rels><?xml version="1.0" encoding="UTF-8" standalone="yes"?>
<Relationships xmlns="http://schemas.openxmlformats.org/package/2006/relationships"><Relationship Id="rId8" Type="http://schemas.openxmlformats.org/officeDocument/2006/relationships/image" Target="../media/image15.svg" /><Relationship Id="rId13" Type="http://schemas.openxmlformats.org/officeDocument/2006/relationships/image" Target="../media/image20.svg" /><Relationship Id="rId3" Type="http://schemas.openxmlformats.org/officeDocument/2006/relationships/image" Target="../media/image10.png" /><Relationship Id="rId7" Type="http://schemas.openxmlformats.org/officeDocument/2006/relationships/image" Target="../media/image14.png" /><Relationship Id="rId12" Type="http://schemas.openxmlformats.org/officeDocument/2006/relationships/image" Target="../media/image19.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13.svg" /><Relationship Id="rId11" Type="http://schemas.openxmlformats.org/officeDocument/2006/relationships/image" Target="../media/image18.gif" /><Relationship Id="rId5" Type="http://schemas.openxmlformats.org/officeDocument/2006/relationships/image" Target="../media/image12.png" /><Relationship Id="rId10" Type="http://schemas.openxmlformats.org/officeDocument/2006/relationships/image" Target="../media/image17.svg" /><Relationship Id="rId4" Type="http://schemas.openxmlformats.org/officeDocument/2006/relationships/image" Target="../media/image11.svg" /><Relationship Id="rId9" Type="http://schemas.openxmlformats.org/officeDocument/2006/relationships/image" Target="../media/image16.png" /></Relationships>
</file>

<file path=ppt/slides/_rels/slide4.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23.svg" /><Relationship Id="rId4" Type="http://schemas.openxmlformats.org/officeDocument/2006/relationships/image" Target="../media/image22.png" /></Relationships>
</file>

<file path=ppt/slides/_rels/slide5.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image" Target="../media/image1.jpeg" /><Relationship Id="rId1" Type="http://schemas.openxmlformats.org/officeDocument/2006/relationships/slideLayout" Target="../slideLayouts/slideLayout7.xml" /><Relationship Id="rId4" Type="http://schemas.openxmlformats.org/officeDocument/2006/relationships/image" Target="../media/image24.png" /></Relationships>
</file>

<file path=ppt/slides/_rels/slide6.xml.rels><?xml version="1.0" encoding="UTF-8" standalone="yes"?>
<Relationships xmlns="http://schemas.openxmlformats.org/package/2006/relationships"><Relationship Id="rId8" Type="http://schemas.openxmlformats.org/officeDocument/2006/relationships/image" Target="../media/image30.png" /><Relationship Id="rId3" Type="http://schemas.openxmlformats.org/officeDocument/2006/relationships/image" Target="../media/image25.png" /><Relationship Id="rId7" Type="http://schemas.openxmlformats.org/officeDocument/2006/relationships/image" Target="../media/image29.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28.png" /><Relationship Id="rId5" Type="http://schemas.openxmlformats.org/officeDocument/2006/relationships/image" Target="../media/image27.svg" /><Relationship Id="rId4" Type="http://schemas.openxmlformats.org/officeDocument/2006/relationships/image" Target="../media/image26.png" /><Relationship Id="rId9" Type="http://schemas.openxmlformats.org/officeDocument/2006/relationships/image" Target="../media/image31.svg" /></Relationships>
</file>

<file path=ppt/slides/_rels/slide7.xml.rels><?xml version="1.0" encoding="UTF-8" standalone="yes"?>
<Relationships xmlns="http://schemas.openxmlformats.org/package/2006/relationships"><Relationship Id="rId3" Type="http://schemas.openxmlformats.org/officeDocument/2006/relationships/image" Target="../media/image25.png" /><Relationship Id="rId7" Type="http://schemas.openxmlformats.org/officeDocument/2006/relationships/image" Target="../media/image35.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34.png" /><Relationship Id="rId5" Type="http://schemas.openxmlformats.org/officeDocument/2006/relationships/image" Target="../media/image33.svg" /><Relationship Id="rId4" Type="http://schemas.openxmlformats.org/officeDocument/2006/relationships/image" Target="../media/image32.png" /></Relationships>
</file>

<file path=ppt/slides/_rels/slide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2.png" /><Relationship Id="rId5" Type="http://schemas.openxmlformats.org/officeDocument/2006/relationships/image" Target="../media/image36.jpeg" /><Relationship Id="rId4" Type="http://schemas.openxmlformats.org/officeDocument/2006/relationships/image" Target="../media/image4.svg" /></Relationships>
</file>

<file path=ppt/slides/_rels/slide9.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4.svg" /><Relationship Id="rId4" Type="http://schemas.openxmlformats.org/officeDocument/2006/relationships/image" Target="../media/image3.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1748409">
            <a:off x="-1871927" y="7973496"/>
            <a:ext cx="6755091" cy="6130246"/>
          </a:xfrm>
          <a:custGeom>
            <a:avLst/>
            <a:gdLst/>
            <a:ahLst/>
            <a:cxnLst/>
            <a:rect l="l" t="t" r="r" b="b"/>
            <a:pathLst>
              <a:path w="6755091" h="6130246">
                <a:moveTo>
                  <a:pt x="0" y="0"/>
                </a:moveTo>
                <a:lnTo>
                  <a:pt x="6755092" y="0"/>
                </a:lnTo>
                <a:lnTo>
                  <a:pt x="6755092" y="6130246"/>
                </a:lnTo>
                <a:lnTo>
                  <a:pt x="0" y="6130246"/>
                </a:lnTo>
                <a:lnTo>
                  <a:pt x="0" y="0"/>
                </a:lnTo>
                <a:close/>
              </a:path>
            </a:pathLst>
          </a:custGeom>
          <a:blipFill>
            <a:blip r:embed="rId3"/>
            <a:stretch>
              <a:fillRect/>
            </a:stretch>
          </a:blipFill>
        </p:spPr>
      </p:sp>
      <p:sp>
        <p:nvSpPr>
          <p:cNvPr id="4" name="Freeform 4"/>
          <p:cNvSpPr/>
          <p:nvPr/>
        </p:nvSpPr>
        <p:spPr>
          <a:xfrm rot="2223819">
            <a:off x="10214960" y="-5715833"/>
            <a:ext cx="12596877" cy="11431666"/>
          </a:xfrm>
          <a:custGeom>
            <a:avLst/>
            <a:gdLst/>
            <a:ahLst/>
            <a:cxnLst/>
            <a:rect l="l" t="t" r="r" b="b"/>
            <a:pathLst>
              <a:path w="12596877" h="11431666">
                <a:moveTo>
                  <a:pt x="0" y="0"/>
                </a:moveTo>
                <a:lnTo>
                  <a:pt x="12596877" y="0"/>
                </a:lnTo>
                <a:lnTo>
                  <a:pt x="12596877" y="11431666"/>
                </a:lnTo>
                <a:lnTo>
                  <a:pt x="0" y="11431666"/>
                </a:lnTo>
                <a:lnTo>
                  <a:pt x="0" y="0"/>
                </a:lnTo>
                <a:close/>
              </a:path>
            </a:pathLst>
          </a:custGeom>
          <a:blipFill>
            <a:blip r:embed="rId3"/>
            <a:stretch>
              <a:fillRect/>
            </a:stretch>
          </a:blipFill>
        </p:spPr>
      </p:sp>
      <p:sp>
        <p:nvSpPr>
          <p:cNvPr id="5" name="Freeform 5"/>
          <p:cNvSpPr/>
          <p:nvPr/>
        </p:nvSpPr>
        <p:spPr>
          <a:xfrm>
            <a:off x="-1028700" y="-1435399"/>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alphaModFix amt="67000"/>
              <a:extLst>
                <a:ext uri="{96DAC541-7B7A-43D3-8B79-37D633B846F1}">
                  <asvg:svgBlip xmlns:asvg="http://schemas.microsoft.com/office/drawing/2016/SVG/main" r:embed="rId5"/>
                </a:ext>
              </a:extLst>
            </a:blip>
            <a:stretch>
              <a:fillRect/>
            </a:stretch>
          </a:blipFill>
        </p:spPr>
      </p:sp>
      <p:sp>
        <p:nvSpPr>
          <p:cNvPr id="6" name="Freeform 6"/>
          <p:cNvSpPr/>
          <p:nvPr/>
        </p:nvSpPr>
        <p:spPr>
          <a:xfrm rot="-8194833">
            <a:off x="14482979" y="8370874"/>
            <a:ext cx="5020066" cy="5020066"/>
          </a:xfrm>
          <a:custGeom>
            <a:avLst/>
            <a:gdLst/>
            <a:ahLst/>
            <a:cxnLst/>
            <a:rect l="l" t="t" r="r" b="b"/>
            <a:pathLst>
              <a:path w="5020066" h="5020066">
                <a:moveTo>
                  <a:pt x="0" y="0"/>
                </a:moveTo>
                <a:lnTo>
                  <a:pt x="5020067" y="0"/>
                </a:lnTo>
                <a:lnTo>
                  <a:pt x="5020067" y="5020066"/>
                </a:lnTo>
                <a:lnTo>
                  <a:pt x="0" y="5020066"/>
                </a:lnTo>
                <a:lnTo>
                  <a:pt x="0" y="0"/>
                </a:lnTo>
                <a:close/>
              </a:path>
            </a:pathLst>
          </a:custGeom>
          <a:blipFill>
            <a:blip r:embed="rId4">
              <a:alphaModFix amt="67000"/>
              <a:extLst>
                <a:ext uri="{96DAC541-7B7A-43D3-8B79-37D633B846F1}">
                  <asvg:svgBlip xmlns:asvg="http://schemas.microsoft.com/office/drawing/2016/SVG/main" r:embed="rId5"/>
                </a:ext>
              </a:extLst>
            </a:blip>
            <a:stretch>
              <a:fillRect/>
            </a:stretch>
          </a:blipFill>
        </p:spPr>
      </p:sp>
      <p:grpSp>
        <p:nvGrpSpPr>
          <p:cNvPr id="7" name="Group 7"/>
          <p:cNvGrpSpPr>
            <a:grpSpLocks noChangeAspect="1"/>
          </p:cNvGrpSpPr>
          <p:nvPr/>
        </p:nvGrpSpPr>
        <p:grpSpPr>
          <a:xfrm>
            <a:off x="11800240" y="3134465"/>
            <a:ext cx="4018070" cy="4018070"/>
            <a:chOff x="0" y="0"/>
            <a:chExt cx="14840029" cy="14840029"/>
          </a:xfrm>
        </p:grpSpPr>
        <p:sp>
          <p:nvSpPr>
            <p:cNvPr id="8" name="Freeform 8"/>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1">
              <a:gsLst>
                <a:gs pos="0">
                  <a:srgbClr val="048AFF">
                    <a:alpha val="100000"/>
                  </a:srgbClr>
                </a:gs>
                <a:gs pos="100000">
                  <a:srgbClr val="B100E8">
                    <a:alpha val="100000"/>
                  </a:srgbClr>
                </a:gs>
              </a:gsLst>
              <a:lin ang="2100000"/>
            </a:gradFill>
          </p:spPr>
        </p:sp>
        <p:sp>
          <p:nvSpPr>
            <p:cNvPr id="9" name="Freeform 9"/>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2B1511"/>
            </a:solidFill>
          </p:spPr>
        </p:sp>
        <p:sp>
          <p:nvSpPr>
            <p:cNvPr id="10" name="Freeform 10"/>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6"/>
              <a:stretch>
                <a:fillRect l="-26452" r="-26452"/>
              </a:stretch>
            </a:blipFill>
          </p:spPr>
        </p:sp>
      </p:grpSp>
      <p:sp>
        <p:nvSpPr>
          <p:cNvPr id="11" name="Freeform 11"/>
          <p:cNvSpPr/>
          <p:nvPr/>
        </p:nvSpPr>
        <p:spPr>
          <a:xfrm>
            <a:off x="1674634" y="1969764"/>
            <a:ext cx="1173233" cy="1164700"/>
          </a:xfrm>
          <a:custGeom>
            <a:avLst/>
            <a:gdLst/>
            <a:ahLst/>
            <a:cxnLst/>
            <a:rect l="l" t="t" r="r" b="b"/>
            <a:pathLst>
              <a:path w="1173233" h="1164700">
                <a:moveTo>
                  <a:pt x="0" y="0"/>
                </a:moveTo>
                <a:lnTo>
                  <a:pt x="1173233" y="0"/>
                </a:lnTo>
                <a:lnTo>
                  <a:pt x="1173233" y="1164701"/>
                </a:lnTo>
                <a:lnTo>
                  <a:pt x="0" y="116470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TextBox 12"/>
          <p:cNvSpPr txBox="1"/>
          <p:nvPr/>
        </p:nvSpPr>
        <p:spPr>
          <a:xfrm>
            <a:off x="1674634" y="3576034"/>
            <a:ext cx="7677908" cy="3068256"/>
          </a:xfrm>
          <a:prstGeom prst="rect">
            <a:avLst/>
          </a:prstGeom>
        </p:spPr>
        <p:txBody>
          <a:bodyPr lIns="0" tIns="0" rIns="0" bIns="0" rtlCol="0" anchor="t">
            <a:spAutoFit/>
          </a:bodyPr>
          <a:lstStyle/>
          <a:p>
            <a:pPr algn="ctr">
              <a:lnSpc>
                <a:spcPts val="4868"/>
              </a:lnSpc>
            </a:pPr>
            <a:r>
              <a:rPr lang="en-US" sz="3502">
                <a:solidFill>
                  <a:srgbClr val="048AFF"/>
                </a:solidFill>
                <a:latin typeface="Now Bold Italics"/>
              </a:rPr>
              <a:t>“ENHANCING REAL-TIME LEARNING INTERACTIVITY IN WORK INTEGRATED LEARNING PROGRAMS: A MULTI-MODEL APPROACH"</a:t>
            </a:r>
          </a:p>
        </p:txBody>
      </p:sp>
      <p:sp>
        <p:nvSpPr>
          <p:cNvPr id="13" name="TextBox 13"/>
          <p:cNvSpPr txBox="1"/>
          <p:nvPr/>
        </p:nvSpPr>
        <p:spPr>
          <a:xfrm>
            <a:off x="1674634" y="6934646"/>
            <a:ext cx="9301107" cy="1329533"/>
          </a:xfrm>
          <a:prstGeom prst="rect">
            <a:avLst/>
          </a:prstGeom>
        </p:spPr>
        <p:txBody>
          <a:bodyPr lIns="0" tIns="0" rIns="0" bIns="0" rtlCol="0" anchor="t">
            <a:spAutoFit/>
          </a:bodyPr>
          <a:lstStyle/>
          <a:p>
            <a:pPr>
              <a:lnSpc>
                <a:spcPts val="3583"/>
              </a:lnSpc>
            </a:pPr>
            <a:r>
              <a:rPr lang="en-US" sz="2913">
                <a:solidFill>
                  <a:srgbClr val="FFFAEB"/>
                </a:solidFill>
                <a:latin typeface="DM Sans Italics"/>
              </a:rPr>
              <a:t>Presented by: Debarati Banerjee(2022C104015)</a:t>
            </a:r>
          </a:p>
          <a:p>
            <a:pPr>
              <a:lnSpc>
                <a:spcPts val="3583"/>
              </a:lnSpc>
            </a:pPr>
            <a:r>
              <a:rPr lang="en-US" sz="2913">
                <a:solidFill>
                  <a:srgbClr val="FFFAEB"/>
                </a:solidFill>
                <a:latin typeface="DM Sans Italics"/>
              </a:rPr>
              <a:t>                       Mrutyunjay Shukla(2022C104060)</a:t>
            </a:r>
          </a:p>
          <a:p>
            <a:pPr marL="0" lvl="0" indent="0" algn="l">
              <a:lnSpc>
                <a:spcPts val="3583"/>
              </a:lnSpc>
              <a:spcBef>
                <a:spcPct val="0"/>
              </a:spcBef>
            </a:pPr>
            <a:endParaRPr lang="en-US" sz="2913">
              <a:solidFill>
                <a:srgbClr val="FFFAEB"/>
              </a:solidFill>
              <a:latin typeface="DM Sans Italics"/>
            </a:endParaRPr>
          </a:p>
        </p:txBody>
      </p:sp>
      <p:sp>
        <p:nvSpPr>
          <p:cNvPr id="14" name="TextBox 14"/>
          <p:cNvSpPr txBox="1"/>
          <p:nvPr/>
        </p:nvSpPr>
        <p:spPr>
          <a:xfrm>
            <a:off x="3086100" y="2289051"/>
            <a:ext cx="2744033" cy="390350"/>
          </a:xfrm>
          <a:prstGeom prst="rect">
            <a:avLst/>
          </a:prstGeom>
        </p:spPr>
        <p:txBody>
          <a:bodyPr lIns="0" tIns="0" rIns="0" bIns="0" rtlCol="0" anchor="t">
            <a:spAutoFit/>
          </a:bodyPr>
          <a:lstStyle/>
          <a:p>
            <a:pPr algn="ctr">
              <a:lnSpc>
                <a:spcPts val="3131"/>
              </a:lnSpc>
              <a:spcBef>
                <a:spcPct val="0"/>
              </a:spcBef>
            </a:pPr>
            <a:r>
              <a:rPr lang="en-US" sz="2545">
                <a:solidFill>
                  <a:srgbClr val="FFFFFF"/>
                </a:solidFill>
                <a:latin typeface="DM Sans Italics"/>
              </a:rPr>
              <a:t>Deep Insight Crew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2223819">
            <a:off x="-4572963" y="4006074"/>
            <a:ext cx="9665112" cy="8771089"/>
          </a:xfrm>
          <a:custGeom>
            <a:avLst/>
            <a:gdLst/>
            <a:ahLst/>
            <a:cxnLst/>
            <a:rect l="l" t="t" r="r" b="b"/>
            <a:pathLst>
              <a:path w="9665112" h="8771089">
                <a:moveTo>
                  <a:pt x="0" y="0"/>
                </a:moveTo>
                <a:lnTo>
                  <a:pt x="9665112" y="0"/>
                </a:lnTo>
                <a:lnTo>
                  <a:pt x="9665112" y="8771089"/>
                </a:lnTo>
                <a:lnTo>
                  <a:pt x="0" y="8771089"/>
                </a:lnTo>
                <a:lnTo>
                  <a:pt x="0" y="0"/>
                </a:lnTo>
                <a:close/>
              </a:path>
            </a:pathLst>
          </a:custGeom>
          <a:blipFill>
            <a:blip r:embed="rId3"/>
            <a:stretch>
              <a:fillRect/>
            </a:stretch>
          </a:blipFill>
        </p:spPr>
      </p:sp>
      <p:grpSp>
        <p:nvGrpSpPr>
          <p:cNvPr id="4" name="Group 4"/>
          <p:cNvGrpSpPr/>
          <p:nvPr/>
        </p:nvGrpSpPr>
        <p:grpSpPr>
          <a:xfrm>
            <a:off x="5971740" y="1648649"/>
            <a:ext cx="6344521" cy="7111957"/>
            <a:chOff x="0" y="0"/>
            <a:chExt cx="1670985" cy="1873108"/>
          </a:xfrm>
        </p:grpSpPr>
        <p:sp>
          <p:nvSpPr>
            <p:cNvPr id="5" name="Freeform 5"/>
            <p:cNvSpPr/>
            <p:nvPr/>
          </p:nvSpPr>
          <p:spPr>
            <a:xfrm>
              <a:off x="0" y="0"/>
              <a:ext cx="1670985" cy="1873108"/>
            </a:xfrm>
            <a:custGeom>
              <a:avLst/>
              <a:gdLst/>
              <a:ahLst/>
              <a:cxnLst/>
              <a:rect l="l" t="t" r="r" b="b"/>
              <a:pathLst>
                <a:path w="1670985" h="1873108">
                  <a:moveTo>
                    <a:pt x="0" y="0"/>
                  </a:moveTo>
                  <a:lnTo>
                    <a:pt x="1670985" y="0"/>
                  </a:lnTo>
                  <a:lnTo>
                    <a:pt x="1670985" y="1873108"/>
                  </a:lnTo>
                  <a:lnTo>
                    <a:pt x="0" y="1873108"/>
                  </a:lnTo>
                  <a:close/>
                </a:path>
              </a:pathLst>
            </a:custGeom>
            <a:solidFill>
              <a:srgbClr val="000000">
                <a:alpha val="0"/>
              </a:srgbClr>
            </a:solidFill>
            <a:ln w="38100" cap="sq">
              <a:solidFill>
                <a:srgbClr val="048AFF"/>
              </a:solidFill>
              <a:prstDash val="solid"/>
              <a:miter/>
            </a:ln>
          </p:spPr>
        </p:sp>
        <p:sp>
          <p:nvSpPr>
            <p:cNvPr id="6" name="TextBox 6"/>
            <p:cNvSpPr txBox="1"/>
            <p:nvPr/>
          </p:nvSpPr>
          <p:spPr>
            <a:xfrm>
              <a:off x="0" y="-9525"/>
              <a:ext cx="1670985" cy="1882633"/>
            </a:xfrm>
            <a:prstGeom prst="rect">
              <a:avLst/>
            </a:prstGeom>
          </p:spPr>
          <p:txBody>
            <a:bodyPr lIns="50800" tIns="50800" rIns="50800" bIns="50800" rtlCol="0" anchor="ctr"/>
            <a:lstStyle/>
            <a:p>
              <a:pPr algn="ctr">
                <a:lnSpc>
                  <a:spcPts val="3131"/>
                </a:lnSpc>
              </a:pPr>
              <a:endParaRPr/>
            </a:p>
          </p:txBody>
        </p:sp>
      </p:grpSp>
      <p:sp>
        <p:nvSpPr>
          <p:cNvPr id="7" name="Freeform 7"/>
          <p:cNvSpPr/>
          <p:nvPr/>
        </p:nvSpPr>
        <p:spPr>
          <a:xfrm>
            <a:off x="15132358" y="7708556"/>
            <a:ext cx="1769644" cy="1711728"/>
          </a:xfrm>
          <a:custGeom>
            <a:avLst/>
            <a:gdLst/>
            <a:ahLst/>
            <a:cxnLst/>
            <a:rect l="l" t="t" r="r" b="b"/>
            <a:pathLst>
              <a:path w="1769644" h="1711728">
                <a:moveTo>
                  <a:pt x="0" y="0"/>
                </a:moveTo>
                <a:lnTo>
                  <a:pt x="1769644" y="0"/>
                </a:lnTo>
                <a:lnTo>
                  <a:pt x="1769644" y="1711729"/>
                </a:lnTo>
                <a:lnTo>
                  <a:pt x="0" y="17117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6105804" y="3605200"/>
            <a:ext cx="6076393" cy="4264092"/>
          </a:xfrm>
          <a:prstGeom prst="rect">
            <a:avLst/>
          </a:prstGeom>
        </p:spPr>
        <p:txBody>
          <a:bodyPr lIns="0" tIns="0" rIns="0" bIns="0" rtlCol="0" anchor="t">
            <a:spAutoFit/>
          </a:bodyPr>
          <a:lstStyle/>
          <a:p>
            <a:pPr marL="595784" lvl="1" indent="-297892">
              <a:lnSpc>
                <a:spcPts val="4304"/>
              </a:lnSpc>
              <a:buFont typeface="Arial"/>
              <a:buChar char="•"/>
            </a:pPr>
            <a:r>
              <a:rPr lang="en-US" sz="2759">
                <a:solidFill>
                  <a:srgbClr val="FFFAEB"/>
                </a:solidFill>
                <a:latin typeface="DM Sans Italics"/>
              </a:rPr>
              <a:t>Topic Rationale and Solution Overview</a:t>
            </a:r>
          </a:p>
          <a:p>
            <a:pPr marL="595784" lvl="1" indent="-297892">
              <a:lnSpc>
                <a:spcPts val="4304"/>
              </a:lnSpc>
              <a:buFont typeface="Arial"/>
              <a:buChar char="•"/>
            </a:pPr>
            <a:r>
              <a:rPr lang="en-US" sz="2759">
                <a:solidFill>
                  <a:srgbClr val="FFFAEB"/>
                </a:solidFill>
                <a:latin typeface="DM Sans Italics"/>
              </a:rPr>
              <a:t>Model Demonstration</a:t>
            </a:r>
          </a:p>
          <a:p>
            <a:pPr marL="595784" lvl="1" indent="-297892">
              <a:lnSpc>
                <a:spcPts val="4304"/>
              </a:lnSpc>
              <a:buFont typeface="Arial"/>
              <a:buChar char="•"/>
            </a:pPr>
            <a:r>
              <a:rPr lang="en-US" sz="2759">
                <a:solidFill>
                  <a:srgbClr val="FFFAEB"/>
                </a:solidFill>
                <a:latin typeface="DM Sans Italics"/>
              </a:rPr>
              <a:t>Architecture</a:t>
            </a:r>
          </a:p>
          <a:p>
            <a:pPr marL="595784" lvl="1" indent="-297892">
              <a:lnSpc>
                <a:spcPts val="4304"/>
              </a:lnSpc>
              <a:buFont typeface="Arial"/>
              <a:buChar char="•"/>
            </a:pPr>
            <a:r>
              <a:rPr lang="en-US" sz="2759">
                <a:solidFill>
                  <a:srgbClr val="FFFAEB"/>
                </a:solidFill>
                <a:latin typeface="DM Sans Italics"/>
              </a:rPr>
              <a:t>Performance Metrics Overview</a:t>
            </a:r>
          </a:p>
          <a:p>
            <a:pPr marL="595784" lvl="1" indent="-297892">
              <a:lnSpc>
                <a:spcPts val="4304"/>
              </a:lnSpc>
              <a:buFont typeface="Arial"/>
              <a:buChar char="•"/>
            </a:pPr>
            <a:r>
              <a:rPr lang="en-US" sz="2759">
                <a:solidFill>
                  <a:srgbClr val="FFFAEB"/>
                </a:solidFill>
                <a:latin typeface="DM Sans Italics"/>
              </a:rPr>
              <a:t>Future Scope</a:t>
            </a:r>
          </a:p>
          <a:p>
            <a:pPr marL="595784" lvl="1" indent="-297892">
              <a:lnSpc>
                <a:spcPts val="4304"/>
              </a:lnSpc>
              <a:buFont typeface="Arial"/>
              <a:buChar char="•"/>
            </a:pPr>
            <a:r>
              <a:rPr lang="en-US" sz="2759">
                <a:solidFill>
                  <a:srgbClr val="FFFAEB"/>
                </a:solidFill>
                <a:latin typeface="DM Sans Italics"/>
              </a:rPr>
              <a:t>Q&amp;A</a:t>
            </a:r>
          </a:p>
          <a:p>
            <a:pPr algn="l">
              <a:lnSpc>
                <a:spcPts val="4304"/>
              </a:lnSpc>
            </a:pPr>
            <a:endParaRPr lang="en-US" sz="2759">
              <a:solidFill>
                <a:srgbClr val="FFFAEB"/>
              </a:solidFill>
              <a:latin typeface="DM Sans Italics"/>
            </a:endParaRPr>
          </a:p>
        </p:txBody>
      </p:sp>
      <p:sp>
        <p:nvSpPr>
          <p:cNvPr id="9" name="TextBox 9"/>
          <p:cNvSpPr txBox="1"/>
          <p:nvPr/>
        </p:nvSpPr>
        <p:spPr>
          <a:xfrm>
            <a:off x="6728644" y="1794630"/>
            <a:ext cx="4830711" cy="775160"/>
          </a:xfrm>
          <a:prstGeom prst="rect">
            <a:avLst/>
          </a:prstGeom>
        </p:spPr>
        <p:txBody>
          <a:bodyPr lIns="0" tIns="0" rIns="0" bIns="0" rtlCol="0" anchor="t">
            <a:spAutoFit/>
          </a:bodyPr>
          <a:lstStyle/>
          <a:p>
            <a:pPr algn="ctr">
              <a:lnSpc>
                <a:spcPts val="6374"/>
              </a:lnSpc>
            </a:pPr>
            <a:r>
              <a:rPr lang="en-US" sz="4586" spc="311">
                <a:solidFill>
                  <a:srgbClr val="048AFF"/>
                </a:solidFill>
                <a:latin typeface="Now Bold"/>
              </a:rPr>
              <a:t>Overview</a:t>
            </a:r>
          </a:p>
        </p:txBody>
      </p:sp>
      <p:grpSp>
        <p:nvGrpSpPr>
          <p:cNvPr id="10" name="Group 10"/>
          <p:cNvGrpSpPr/>
          <p:nvPr/>
        </p:nvGrpSpPr>
        <p:grpSpPr>
          <a:xfrm>
            <a:off x="16017180" y="-1431186"/>
            <a:ext cx="3656258" cy="365625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p:spPr>
        </p:sp>
        <p:sp>
          <p:nvSpPr>
            <p:cNvPr id="12" name="TextBox 12"/>
            <p:cNvSpPr txBox="1"/>
            <p:nvPr/>
          </p:nvSpPr>
          <p:spPr>
            <a:xfrm>
              <a:off x="76200" y="66675"/>
              <a:ext cx="660400" cy="669925"/>
            </a:xfrm>
            <a:prstGeom prst="rect">
              <a:avLst/>
            </a:prstGeom>
          </p:spPr>
          <p:txBody>
            <a:bodyPr lIns="50800" tIns="50800" rIns="50800" bIns="50800" rtlCol="0" anchor="ctr"/>
            <a:lstStyle/>
            <a:p>
              <a:pPr algn="ctr">
                <a:lnSpc>
                  <a:spcPts val="3131"/>
                </a:lnSpc>
              </a:pPr>
              <a:endParaRPr/>
            </a:p>
          </p:txBody>
        </p:sp>
      </p:grpSp>
      <p:sp>
        <p:nvSpPr>
          <p:cNvPr id="13" name="AutoShape 13"/>
          <p:cNvSpPr/>
          <p:nvPr/>
        </p:nvSpPr>
        <p:spPr>
          <a:xfrm>
            <a:off x="6085397" y="2796124"/>
            <a:ext cx="6076393" cy="0"/>
          </a:xfrm>
          <a:prstGeom prst="line">
            <a:avLst/>
          </a:prstGeom>
          <a:ln w="38100" cap="flat">
            <a:solidFill>
              <a:srgbClr val="048AFF"/>
            </a:solidFill>
            <a:prstDash val="solid"/>
            <a:headEnd type="none" w="sm" len="sm"/>
            <a:tailEnd type="none" w="sm"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grpSp>
        <p:nvGrpSpPr>
          <p:cNvPr id="3" name="Group 3"/>
          <p:cNvGrpSpPr/>
          <p:nvPr/>
        </p:nvGrpSpPr>
        <p:grpSpPr>
          <a:xfrm>
            <a:off x="2067678" y="2271436"/>
            <a:ext cx="2164512" cy="21645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p:spPr>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131"/>
                </a:lnSpc>
              </a:pPr>
              <a:endParaRPr/>
            </a:p>
          </p:txBody>
        </p:sp>
      </p:grpSp>
      <p:sp>
        <p:nvSpPr>
          <p:cNvPr id="6" name="TextBox 6"/>
          <p:cNvSpPr txBox="1"/>
          <p:nvPr/>
        </p:nvSpPr>
        <p:spPr>
          <a:xfrm>
            <a:off x="2932027" y="634924"/>
            <a:ext cx="12423946" cy="834734"/>
          </a:xfrm>
          <a:prstGeom prst="rect">
            <a:avLst/>
          </a:prstGeom>
        </p:spPr>
        <p:txBody>
          <a:bodyPr lIns="0" tIns="0" rIns="0" bIns="0" rtlCol="0" anchor="t">
            <a:spAutoFit/>
          </a:bodyPr>
          <a:lstStyle/>
          <a:p>
            <a:pPr algn="ctr">
              <a:lnSpc>
                <a:spcPts val="6762"/>
              </a:lnSpc>
            </a:pPr>
            <a:r>
              <a:rPr lang="en-US" sz="4865">
                <a:solidFill>
                  <a:srgbClr val="048AFF"/>
                </a:solidFill>
                <a:latin typeface="Now Bold Italics"/>
              </a:rPr>
              <a:t>Topic Rationale and Solution Overview</a:t>
            </a:r>
          </a:p>
        </p:txBody>
      </p:sp>
      <p:sp>
        <p:nvSpPr>
          <p:cNvPr id="7" name="TextBox 7"/>
          <p:cNvSpPr txBox="1"/>
          <p:nvPr/>
        </p:nvSpPr>
        <p:spPr>
          <a:xfrm>
            <a:off x="1464801" y="5703685"/>
            <a:ext cx="3182131" cy="3254877"/>
          </a:xfrm>
          <a:prstGeom prst="rect">
            <a:avLst/>
          </a:prstGeom>
        </p:spPr>
        <p:txBody>
          <a:bodyPr lIns="0" tIns="0" rIns="0" bIns="0" rtlCol="0" anchor="t">
            <a:spAutoFit/>
          </a:bodyPr>
          <a:lstStyle/>
          <a:p>
            <a:pPr algn="ctr">
              <a:lnSpc>
                <a:spcPts val="2941"/>
              </a:lnSpc>
            </a:pPr>
            <a:r>
              <a:rPr lang="en-US" sz="2014">
                <a:solidFill>
                  <a:srgbClr val="FFFFFF"/>
                </a:solidFill>
                <a:latin typeface="DM Sans"/>
              </a:rPr>
              <a:t>Our solution includes a chatbot feature that provides a quick recap of the lecture content covered thus far. Latecomers can catch up efficiently without interrupting the ongoing class.</a:t>
            </a:r>
          </a:p>
        </p:txBody>
      </p:sp>
      <p:sp>
        <p:nvSpPr>
          <p:cNvPr id="8" name="Freeform 8"/>
          <p:cNvSpPr/>
          <p:nvPr/>
        </p:nvSpPr>
        <p:spPr>
          <a:xfrm>
            <a:off x="-3974811" y="6722860"/>
            <a:ext cx="8403333" cy="8403333"/>
          </a:xfrm>
          <a:custGeom>
            <a:avLst/>
            <a:gdLst/>
            <a:ahLst/>
            <a:cxnLst/>
            <a:rect l="l" t="t" r="r" b="b"/>
            <a:pathLst>
              <a:path w="8403333" h="8403333">
                <a:moveTo>
                  <a:pt x="0" y="0"/>
                </a:moveTo>
                <a:lnTo>
                  <a:pt x="8403333" y="0"/>
                </a:lnTo>
                <a:lnTo>
                  <a:pt x="8403333" y="8403333"/>
                </a:lnTo>
                <a:lnTo>
                  <a:pt x="0" y="84033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13977511" y="-5384837"/>
            <a:ext cx="11445409" cy="11445409"/>
          </a:xfrm>
          <a:custGeom>
            <a:avLst/>
            <a:gdLst/>
            <a:ahLst/>
            <a:cxnLst/>
            <a:rect l="l" t="t" r="r" b="b"/>
            <a:pathLst>
              <a:path w="11445409" h="11445409">
                <a:moveTo>
                  <a:pt x="0" y="0"/>
                </a:moveTo>
                <a:lnTo>
                  <a:pt x="11445409" y="0"/>
                </a:lnTo>
                <a:lnTo>
                  <a:pt x="11445409" y="11445410"/>
                </a:lnTo>
                <a:lnTo>
                  <a:pt x="0" y="1144541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a:off x="2338915" y="2583738"/>
            <a:ext cx="1622037" cy="1622037"/>
          </a:xfrm>
          <a:custGeom>
            <a:avLst/>
            <a:gdLst/>
            <a:ahLst/>
            <a:cxnLst/>
            <a:rect l="l" t="t" r="r" b="b"/>
            <a:pathLst>
              <a:path w="1622037" h="1622037">
                <a:moveTo>
                  <a:pt x="0" y="0"/>
                </a:moveTo>
                <a:lnTo>
                  <a:pt x="1622037" y="0"/>
                </a:lnTo>
                <a:lnTo>
                  <a:pt x="1622037" y="1622037"/>
                </a:lnTo>
                <a:lnTo>
                  <a:pt x="0" y="16220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1" name="Group 11"/>
          <p:cNvGrpSpPr/>
          <p:nvPr/>
        </p:nvGrpSpPr>
        <p:grpSpPr>
          <a:xfrm>
            <a:off x="5795800" y="2271436"/>
            <a:ext cx="2164512" cy="216451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p:spPr>
        </p:sp>
        <p:sp>
          <p:nvSpPr>
            <p:cNvPr id="13" name="TextBox 13"/>
            <p:cNvSpPr txBox="1"/>
            <p:nvPr/>
          </p:nvSpPr>
          <p:spPr>
            <a:xfrm>
              <a:off x="76200" y="66675"/>
              <a:ext cx="660400" cy="669925"/>
            </a:xfrm>
            <a:prstGeom prst="rect">
              <a:avLst/>
            </a:prstGeom>
          </p:spPr>
          <p:txBody>
            <a:bodyPr lIns="50800" tIns="50800" rIns="50800" bIns="50800" rtlCol="0" anchor="ctr"/>
            <a:lstStyle/>
            <a:p>
              <a:pPr algn="ctr">
                <a:lnSpc>
                  <a:spcPts val="3131"/>
                </a:lnSpc>
              </a:pPr>
              <a:endParaRPr/>
            </a:p>
          </p:txBody>
        </p:sp>
      </p:grpSp>
      <p:grpSp>
        <p:nvGrpSpPr>
          <p:cNvPr id="14" name="Group 14"/>
          <p:cNvGrpSpPr/>
          <p:nvPr/>
        </p:nvGrpSpPr>
        <p:grpSpPr>
          <a:xfrm>
            <a:off x="9731726" y="2312501"/>
            <a:ext cx="2164512" cy="216451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p:spPr>
        </p:sp>
        <p:sp>
          <p:nvSpPr>
            <p:cNvPr id="16" name="TextBox 16"/>
            <p:cNvSpPr txBox="1"/>
            <p:nvPr/>
          </p:nvSpPr>
          <p:spPr>
            <a:xfrm>
              <a:off x="76200" y="66675"/>
              <a:ext cx="660400" cy="669925"/>
            </a:xfrm>
            <a:prstGeom prst="rect">
              <a:avLst/>
            </a:prstGeom>
          </p:spPr>
          <p:txBody>
            <a:bodyPr lIns="50800" tIns="50800" rIns="50800" bIns="50800" rtlCol="0" anchor="ctr"/>
            <a:lstStyle/>
            <a:p>
              <a:pPr algn="ctr">
                <a:lnSpc>
                  <a:spcPts val="3131"/>
                </a:lnSpc>
              </a:pPr>
              <a:endParaRPr/>
            </a:p>
          </p:txBody>
        </p:sp>
      </p:grpSp>
      <p:grpSp>
        <p:nvGrpSpPr>
          <p:cNvPr id="17" name="Group 17"/>
          <p:cNvGrpSpPr/>
          <p:nvPr/>
        </p:nvGrpSpPr>
        <p:grpSpPr>
          <a:xfrm>
            <a:off x="13714438" y="2423836"/>
            <a:ext cx="2164512" cy="216451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p:spPr>
        </p:sp>
        <p:sp>
          <p:nvSpPr>
            <p:cNvPr id="19" name="TextBox 19"/>
            <p:cNvSpPr txBox="1"/>
            <p:nvPr/>
          </p:nvSpPr>
          <p:spPr>
            <a:xfrm>
              <a:off x="76200" y="66675"/>
              <a:ext cx="660400" cy="669925"/>
            </a:xfrm>
            <a:prstGeom prst="rect">
              <a:avLst/>
            </a:prstGeom>
          </p:spPr>
          <p:txBody>
            <a:bodyPr lIns="50800" tIns="50800" rIns="50800" bIns="50800" rtlCol="0" anchor="ctr"/>
            <a:lstStyle/>
            <a:p>
              <a:pPr algn="ctr">
                <a:lnSpc>
                  <a:spcPts val="3131"/>
                </a:lnSpc>
              </a:pPr>
              <a:endParaRPr/>
            </a:p>
          </p:txBody>
        </p:sp>
      </p:grpSp>
      <p:sp>
        <p:nvSpPr>
          <p:cNvPr id="20" name="Freeform 20"/>
          <p:cNvSpPr/>
          <p:nvPr/>
        </p:nvSpPr>
        <p:spPr>
          <a:xfrm>
            <a:off x="6245347" y="2312501"/>
            <a:ext cx="1473222" cy="1967575"/>
          </a:xfrm>
          <a:custGeom>
            <a:avLst/>
            <a:gdLst/>
            <a:ahLst/>
            <a:cxnLst/>
            <a:rect l="l" t="t" r="r" b="b"/>
            <a:pathLst>
              <a:path w="1473222" h="1967575">
                <a:moveTo>
                  <a:pt x="0" y="0"/>
                </a:moveTo>
                <a:lnTo>
                  <a:pt x="1473222" y="0"/>
                </a:lnTo>
                <a:lnTo>
                  <a:pt x="1473222" y="1967575"/>
                </a:lnTo>
                <a:lnTo>
                  <a:pt x="0" y="196757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pic>
        <p:nvPicPr>
          <p:cNvPr id="21" name="Picture 21"/>
          <p:cNvPicPr>
            <a:picLocks noChangeAspect="1"/>
          </p:cNvPicPr>
          <p:nvPr/>
        </p:nvPicPr>
        <p:blipFill>
          <a:blip r:embed="rId11"/>
          <a:srcRect/>
          <a:stretch>
            <a:fillRect/>
          </a:stretch>
        </p:blipFill>
        <p:spPr>
          <a:xfrm>
            <a:off x="10074440" y="2583738"/>
            <a:ext cx="1939487" cy="1852210"/>
          </a:xfrm>
          <a:prstGeom prst="rect">
            <a:avLst/>
          </a:prstGeom>
        </p:spPr>
      </p:pic>
      <p:sp>
        <p:nvSpPr>
          <p:cNvPr id="22" name="Freeform 22"/>
          <p:cNvSpPr/>
          <p:nvPr/>
        </p:nvSpPr>
        <p:spPr>
          <a:xfrm>
            <a:off x="13977511" y="2656360"/>
            <a:ext cx="1754826" cy="1706967"/>
          </a:xfrm>
          <a:custGeom>
            <a:avLst/>
            <a:gdLst/>
            <a:ahLst/>
            <a:cxnLst/>
            <a:rect l="l" t="t" r="r" b="b"/>
            <a:pathLst>
              <a:path w="1754826" h="1706967">
                <a:moveTo>
                  <a:pt x="0" y="0"/>
                </a:moveTo>
                <a:lnTo>
                  <a:pt x="1754826" y="0"/>
                </a:lnTo>
                <a:lnTo>
                  <a:pt x="1754826" y="1706967"/>
                </a:lnTo>
                <a:lnTo>
                  <a:pt x="0" y="170696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3" name="TextBox 23"/>
          <p:cNvSpPr txBox="1"/>
          <p:nvPr/>
        </p:nvSpPr>
        <p:spPr>
          <a:xfrm>
            <a:off x="1464801" y="4732872"/>
            <a:ext cx="3307884" cy="875563"/>
          </a:xfrm>
          <a:prstGeom prst="rect">
            <a:avLst/>
          </a:prstGeom>
        </p:spPr>
        <p:txBody>
          <a:bodyPr lIns="0" tIns="0" rIns="0" bIns="0" rtlCol="0" anchor="t">
            <a:spAutoFit/>
          </a:bodyPr>
          <a:lstStyle/>
          <a:p>
            <a:pPr algn="ctr">
              <a:lnSpc>
                <a:spcPts val="3504"/>
              </a:lnSpc>
            </a:pPr>
            <a:r>
              <a:rPr lang="en-US" sz="2521">
                <a:solidFill>
                  <a:srgbClr val="B100E8"/>
                </a:solidFill>
                <a:latin typeface="Now Bold"/>
              </a:rPr>
              <a:t>Chatbot Overview for Latecomers</a:t>
            </a:r>
          </a:p>
        </p:txBody>
      </p:sp>
      <p:sp>
        <p:nvSpPr>
          <p:cNvPr id="24" name="TextBox 24"/>
          <p:cNvSpPr txBox="1"/>
          <p:nvPr/>
        </p:nvSpPr>
        <p:spPr>
          <a:xfrm>
            <a:off x="5060708" y="5703685"/>
            <a:ext cx="3595381" cy="3980265"/>
          </a:xfrm>
          <a:prstGeom prst="rect">
            <a:avLst/>
          </a:prstGeom>
        </p:spPr>
        <p:txBody>
          <a:bodyPr lIns="0" tIns="0" rIns="0" bIns="0" rtlCol="0" anchor="t">
            <a:spAutoFit/>
          </a:bodyPr>
          <a:lstStyle/>
          <a:p>
            <a:pPr algn="ctr">
              <a:lnSpc>
                <a:spcPts val="2941"/>
              </a:lnSpc>
            </a:pPr>
            <a:r>
              <a:rPr lang="en-US" sz="2014">
                <a:solidFill>
                  <a:srgbClr val="FFFFFF"/>
                </a:solidFill>
                <a:latin typeface="DM Sans"/>
              </a:rPr>
              <a:t>The chatbot interface allows students to ask questions as they arise during the lecture. This ensures a smooth and uninterrupted learning experience for all participants. The chatbot promptly responds with relevant information or directs students to resources for further understanding.</a:t>
            </a:r>
          </a:p>
        </p:txBody>
      </p:sp>
      <p:sp>
        <p:nvSpPr>
          <p:cNvPr id="25" name="TextBox 25"/>
          <p:cNvSpPr txBox="1"/>
          <p:nvPr/>
        </p:nvSpPr>
        <p:spPr>
          <a:xfrm>
            <a:off x="5204456" y="4732872"/>
            <a:ext cx="3307884" cy="875563"/>
          </a:xfrm>
          <a:prstGeom prst="rect">
            <a:avLst/>
          </a:prstGeom>
        </p:spPr>
        <p:txBody>
          <a:bodyPr lIns="0" tIns="0" rIns="0" bIns="0" rtlCol="0" anchor="t">
            <a:spAutoFit/>
          </a:bodyPr>
          <a:lstStyle/>
          <a:p>
            <a:pPr algn="ctr">
              <a:lnSpc>
                <a:spcPts val="3504"/>
              </a:lnSpc>
            </a:pPr>
            <a:r>
              <a:rPr lang="en-US" sz="2521">
                <a:solidFill>
                  <a:srgbClr val="B100E8"/>
                </a:solidFill>
                <a:latin typeface="Now Bold"/>
              </a:rPr>
              <a:t>Real-time Query Assistance</a:t>
            </a:r>
          </a:p>
        </p:txBody>
      </p:sp>
      <p:sp>
        <p:nvSpPr>
          <p:cNvPr id="26" name="TextBox 26"/>
          <p:cNvSpPr txBox="1"/>
          <p:nvPr/>
        </p:nvSpPr>
        <p:spPr>
          <a:xfrm>
            <a:off x="9065663" y="5703685"/>
            <a:ext cx="3607358" cy="4076856"/>
          </a:xfrm>
          <a:prstGeom prst="rect">
            <a:avLst/>
          </a:prstGeom>
        </p:spPr>
        <p:txBody>
          <a:bodyPr lIns="0" tIns="0" rIns="0" bIns="0" rtlCol="0" anchor="t">
            <a:spAutoFit/>
          </a:bodyPr>
          <a:lstStyle/>
          <a:p>
            <a:pPr algn="ctr">
              <a:lnSpc>
                <a:spcPts val="2941"/>
              </a:lnSpc>
            </a:pPr>
            <a:r>
              <a:rPr lang="en-US" sz="2014">
                <a:solidFill>
                  <a:srgbClr val="FFFFFF"/>
                </a:solidFill>
                <a:latin typeface="DM Sans"/>
              </a:rPr>
              <a:t> Our system facilitates easy note-taking by students. Not only can they receive real-time solutions to their queries, but they can also capture these solutions for future reference. The seamless integration of chatbot interactions with note-taking enhances the overall learning experience.</a:t>
            </a:r>
          </a:p>
        </p:txBody>
      </p:sp>
      <p:sp>
        <p:nvSpPr>
          <p:cNvPr id="27" name="TextBox 27"/>
          <p:cNvSpPr txBox="1"/>
          <p:nvPr/>
        </p:nvSpPr>
        <p:spPr>
          <a:xfrm>
            <a:off x="9215400" y="4677144"/>
            <a:ext cx="3307884" cy="875563"/>
          </a:xfrm>
          <a:prstGeom prst="rect">
            <a:avLst/>
          </a:prstGeom>
        </p:spPr>
        <p:txBody>
          <a:bodyPr lIns="0" tIns="0" rIns="0" bIns="0" rtlCol="0" anchor="t">
            <a:spAutoFit/>
          </a:bodyPr>
          <a:lstStyle/>
          <a:p>
            <a:pPr algn="ctr">
              <a:lnSpc>
                <a:spcPts val="3504"/>
              </a:lnSpc>
            </a:pPr>
            <a:r>
              <a:rPr lang="en-US" sz="2521">
                <a:solidFill>
                  <a:srgbClr val="B100E8"/>
                </a:solidFill>
                <a:latin typeface="Now Bold"/>
              </a:rPr>
              <a:t>Note-taking Integration</a:t>
            </a:r>
          </a:p>
        </p:txBody>
      </p:sp>
      <p:sp>
        <p:nvSpPr>
          <p:cNvPr id="28" name="TextBox 28"/>
          <p:cNvSpPr txBox="1"/>
          <p:nvPr/>
        </p:nvSpPr>
        <p:spPr>
          <a:xfrm>
            <a:off x="13044894" y="5703685"/>
            <a:ext cx="3503601" cy="3980265"/>
          </a:xfrm>
          <a:prstGeom prst="rect">
            <a:avLst/>
          </a:prstGeom>
        </p:spPr>
        <p:txBody>
          <a:bodyPr lIns="0" tIns="0" rIns="0" bIns="0" rtlCol="0" anchor="t">
            <a:spAutoFit/>
          </a:bodyPr>
          <a:lstStyle/>
          <a:p>
            <a:pPr algn="ctr">
              <a:lnSpc>
                <a:spcPts val="2941"/>
              </a:lnSpc>
            </a:pPr>
            <a:r>
              <a:rPr lang="en-US" sz="2014">
                <a:solidFill>
                  <a:srgbClr val="FFFFFF"/>
                </a:solidFill>
                <a:latin typeface="DM Sans"/>
              </a:rPr>
              <a:t>Our system offers personalized learning support by allowing students to revisit specific parts of the lecture through the synchronized transcript. This enables students to review material at their own pace, ensuring better comprehension and retention.</a:t>
            </a:r>
          </a:p>
        </p:txBody>
      </p:sp>
      <p:sp>
        <p:nvSpPr>
          <p:cNvPr id="29" name="TextBox 29"/>
          <p:cNvSpPr txBox="1"/>
          <p:nvPr/>
        </p:nvSpPr>
        <p:spPr>
          <a:xfrm>
            <a:off x="13142752" y="4677144"/>
            <a:ext cx="3307884" cy="875563"/>
          </a:xfrm>
          <a:prstGeom prst="rect">
            <a:avLst/>
          </a:prstGeom>
        </p:spPr>
        <p:txBody>
          <a:bodyPr lIns="0" tIns="0" rIns="0" bIns="0" rtlCol="0" anchor="t">
            <a:spAutoFit/>
          </a:bodyPr>
          <a:lstStyle/>
          <a:p>
            <a:pPr algn="ctr">
              <a:lnSpc>
                <a:spcPts val="3504"/>
              </a:lnSpc>
            </a:pPr>
            <a:r>
              <a:rPr lang="en-US" sz="2521">
                <a:solidFill>
                  <a:srgbClr val="B100E8"/>
                </a:solidFill>
                <a:latin typeface="Now Bold"/>
              </a:rPr>
              <a:t>Personalized Learning Support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3567097">
            <a:off x="14624984" y="-2635166"/>
            <a:ext cx="5268632" cy="5150088"/>
          </a:xfrm>
          <a:custGeom>
            <a:avLst/>
            <a:gdLst/>
            <a:ahLst/>
            <a:cxnLst/>
            <a:rect l="l" t="t" r="r" b="b"/>
            <a:pathLst>
              <a:path w="5268632" h="5150088">
                <a:moveTo>
                  <a:pt x="0" y="0"/>
                </a:moveTo>
                <a:lnTo>
                  <a:pt x="5268632" y="0"/>
                </a:lnTo>
                <a:lnTo>
                  <a:pt x="5268632" y="5150088"/>
                </a:lnTo>
                <a:lnTo>
                  <a:pt x="0" y="5150088"/>
                </a:lnTo>
                <a:lnTo>
                  <a:pt x="0" y="0"/>
                </a:lnTo>
                <a:close/>
              </a:path>
            </a:pathLst>
          </a:custGeom>
          <a:blipFill>
            <a:blip r:embed="rId3"/>
            <a:stretch>
              <a:fillRect/>
            </a:stretch>
          </a:blipFill>
        </p:spPr>
      </p:sp>
      <p:sp>
        <p:nvSpPr>
          <p:cNvPr id="7" name="Freeform 7"/>
          <p:cNvSpPr/>
          <p:nvPr/>
        </p:nvSpPr>
        <p:spPr>
          <a:xfrm rot="3567097">
            <a:off x="14624984" y="7150448"/>
            <a:ext cx="5268632" cy="5150088"/>
          </a:xfrm>
          <a:custGeom>
            <a:avLst/>
            <a:gdLst/>
            <a:ahLst/>
            <a:cxnLst/>
            <a:rect l="l" t="t" r="r" b="b"/>
            <a:pathLst>
              <a:path w="5268632" h="5150088">
                <a:moveTo>
                  <a:pt x="0" y="0"/>
                </a:moveTo>
                <a:lnTo>
                  <a:pt x="5268632" y="0"/>
                </a:lnTo>
                <a:lnTo>
                  <a:pt x="5268632" y="5150087"/>
                </a:lnTo>
                <a:lnTo>
                  <a:pt x="0" y="5150087"/>
                </a:lnTo>
                <a:lnTo>
                  <a:pt x="0" y="0"/>
                </a:lnTo>
                <a:close/>
              </a:path>
            </a:pathLst>
          </a:custGeom>
          <a:blipFill>
            <a:blip r:embed="rId3"/>
            <a:stretch>
              <a:fillRect/>
            </a:stretch>
          </a:blipFill>
        </p:spPr>
      </p:sp>
      <p:sp>
        <p:nvSpPr>
          <p:cNvPr id="8" name="Freeform 8"/>
          <p:cNvSpPr/>
          <p:nvPr/>
        </p:nvSpPr>
        <p:spPr>
          <a:xfrm rot="3567097">
            <a:off x="-1385063" y="-3257626"/>
            <a:ext cx="5268632" cy="5150088"/>
          </a:xfrm>
          <a:custGeom>
            <a:avLst/>
            <a:gdLst/>
            <a:ahLst/>
            <a:cxnLst/>
            <a:rect l="l" t="t" r="r" b="b"/>
            <a:pathLst>
              <a:path w="5268632" h="5150088">
                <a:moveTo>
                  <a:pt x="0" y="0"/>
                </a:moveTo>
                <a:lnTo>
                  <a:pt x="5268632" y="0"/>
                </a:lnTo>
                <a:lnTo>
                  <a:pt x="5268632" y="5150088"/>
                </a:lnTo>
                <a:lnTo>
                  <a:pt x="0" y="5150088"/>
                </a:lnTo>
                <a:lnTo>
                  <a:pt x="0" y="0"/>
                </a:lnTo>
                <a:close/>
              </a:path>
            </a:pathLst>
          </a:custGeom>
          <a:blipFill>
            <a:blip r:embed="rId3"/>
            <a:stretch>
              <a:fillRect/>
            </a:stretch>
          </a:blipFill>
        </p:spPr>
      </p:sp>
      <p:sp>
        <p:nvSpPr>
          <p:cNvPr id="9" name="Freeform 9"/>
          <p:cNvSpPr/>
          <p:nvPr/>
        </p:nvSpPr>
        <p:spPr>
          <a:xfrm rot="3567097">
            <a:off x="-1956301" y="7150448"/>
            <a:ext cx="5268632" cy="5150088"/>
          </a:xfrm>
          <a:custGeom>
            <a:avLst/>
            <a:gdLst/>
            <a:ahLst/>
            <a:cxnLst/>
            <a:rect l="l" t="t" r="r" b="b"/>
            <a:pathLst>
              <a:path w="5268632" h="5150088">
                <a:moveTo>
                  <a:pt x="0" y="0"/>
                </a:moveTo>
                <a:lnTo>
                  <a:pt x="5268632" y="0"/>
                </a:lnTo>
                <a:lnTo>
                  <a:pt x="5268632" y="5150087"/>
                </a:lnTo>
                <a:lnTo>
                  <a:pt x="0" y="5150087"/>
                </a:lnTo>
                <a:lnTo>
                  <a:pt x="0" y="0"/>
                </a:lnTo>
                <a:close/>
              </a:path>
            </a:pathLst>
          </a:custGeom>
          <a:blipFill>
            <a:blip r:embed="rId3"/>
            <a:stretch>
              <a:fillRect/>
            </a:stretch>
          </a:blipFill>
        </p:spPr>
      </p:sp>
      <p:sp>
        <p:nvSpPr>
          <p:cNvPr id="10" name="Freeform 10"/>
          <p:cNvSpPr/>
          <p:nvPr/>
        </p:nvSpPr>
        <p:spPr>
          <a:xfrm>
            <a:off x="6468894" y="3086100"/>
            <a:ext cx="5350213" cy="4114800"/>
          </a:xfrm>
          <a:custGeom>
            <a:avLst/>
            <a:gdLst/>
            <a:ahLst/>
            <a:cxnLst/>
            <a:rect l="l" t="t" r="r" b="b"/>
            <a:pathLst>
              <a:path w="5350213" h="4114800">
                <a:moveTo>
                  <a:pt x="0" y="0"/>
                </a:moveTo>
                <a:lnTo>
                  <a:pt x="5350212" y="0"/>
                </a:lnTo>
                <a:lnTo>
                  <a:pt x="535021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4824829" y="432372"/>
            <a:ext cx="8638342" cy="1085675"/>
          </a:xfrm>
          <a:prstGeom prst="rect">
            <a:avLst/>
          </a:prstGeom>
        </p:spPr>
        <p:txBody>
          <a:bodyPr lIns="0" tIns="0" rIns="0" bIns="0" rtlCol="0" anchor="t">
            <a:spAutoFit/>
          </a:bodyPr>
          <a:lstStyle/>
          <a:p>
            <a:pPr algn="ctr">
              <a:lnSpc>
                <a:spcPts val="8724"/>
              </a:lnSpc>
            </a:pPr>
            <a:r>
              <a:rPr lang="en-US" sz="6231">
                <a:solidFill>
                  <a:srgbClr val="048AFF"/>
                </a:solidFill>
                <a:latin typeface="Now Bold"/>
              </a:rPr>
              <a:t>Model Demonstration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3567097">
            <a:off x="14624984" y="-2635166"/>
            <a:ext cx="5268632" cy="5150088"/>
          </a:xfrm>
          <a:custGeom>
            <a:avLst/>
            <a:gdLst/>
            <a:ahLst/>
            <a:cxnLst/>
            <a:rect l="l" t="t" r="r" b="b"/>
            <a:pathLst>
              <a:path w="5268632" h="5150088">
                <a:moveTo>
                  <a:pt x="0" y="0"/>
                </a:moveTo>
                <a:lnTo>
                  <a:pt x="5268632" y="0"/>
                </a:lnTo>
                <a:lnTo>
                  <a:pt x="5268632" y="5150088"/>
                </a:lnTo>
                <a:lnTo>
                  <a:pt x="0" y="5150088"/>
                </a:lnTo>
                <a:lnTo>
                  <a:pt x="0" y="0"/>
                </a:lnTo>
                <a:close/>
              </a:path>
            </a:pathLst>
          </a:custGeom>
          <a:blipFill>
            <a:blip r:embed="rId3"/>
            <a:stretch>
              <a:fillRect/>
            </a:stretch>
          </a:blipFill>
        </p:spPr>
      </p:sp>
      <p:sp>
        <p:nvSpPr>
          <p:cNvPr id="7" name="Freeform 7"/>
          <p:cNvSpPr/>
          <p:nvPr/>
        </p:nvSpPr>
        <p:spPr>
          <a:xfrm rot="3567097">
            <a:off x="14624984" y="7150448"/>
            <a:ext cx="5268632" cy="5150088"/>
          </a:xfrm>
          <a:custGeom>
            <a:avLst/>
            <a:gdLst/>
            <a:ahLst/>
            <a:cxnLst/>
            <a:rect l="l" t="t" r="r" b="b"/>
            <a:pathLst>
              <a:path w="5268632" h="5150088">
                <a:moveTo>
                  <a:pt x="0" y="0"/>
                </a:moveTo>
                <a:lnTo>
                  <a:pt x="5268632" y="0"/>
                </a:lnTo>
                <a:lnTo>
                  <a:pt x="5268632" y="5150087"/>
                </a:lnTo>
                <a:lnTo>
                  <a:pt x="0" y="5150087"/>
                </a:lnTo>
                <a:lnTo>
                  <a:pt x="0" y="0"/>
                </a:lnTo>
                <a:close/>
              </a:path>
            </a:pathLst>
          </a:custGeom>
          <a:blipFill>
            <a:blip r:embed="rId3"/>
            <a:stretch>
              <a:fillRect/>
            </a:stretch>
          </a:blipFill>
        </p:spPr>
      </p:sp>
      <p:sp>
        <p:nvSpPr>
          <p:cNvPr id="8" name="Freeform 8"/>
          <p:cNvSpPr/>
          <p:nvPr/>
        </p:nvSpPr>
        <p:spPr>
          <a:xfrm rot="3567097">
            <a:off x="-1604173" y="-793018"/>
            <a:ext cx="5268632" cy="5150088"/>
          </a:xfrm>
          <a:custGeom>
            <a:avLst/>
            <a:gdLst/>
            <a:ahLst/>
            <a:cxnLst/>
            <a:rect l="l" t="t" r="r" b="b"/>
            <a:pathLst>
              <a:path w="5268632" h="5150088">
                <a:moveTo>
                  <a:pt x="0" y="0"/>
                </a:moveTo>
                <a:lnTo>
                  <a:pt x="5268632" y="0"/>
                </a:lnTo>
                <a:lnTo>
                  <a:pt x="5268632" y="5150088"/>
                </a:lnTo>
                <a:lnTo>
                  <a:pt x="0" y="5150088"/>
                </a:lnTo>
                <a:lnTo>
                  <a:pt x="0" y="0"/>
                </a:lnTo>
                <a:close/>
              </a:path>
            </a:pathLst>
          </a:custGeom>
          <a:blipFill>
            <a:blip r:embed="rId3"/>
            <a:stretch>
              <a:fillRect/>
            </a:stretch>
          </a:blipFill>
        </p:spPr>
      </p:sp>
      <p:sp>
        <p:nvSpPr>
          <p:cNvPr id="9" name="Freeform 9"/>
          <p:cNvSpPr/>
          <p:nvPr/>
        </p:nvSpPr>
        <p:spPr>
          <a:xfrm rot="3567097">
            <a:off x="-1956301" y="7150448"/>
            <a:ext cx="5268632" cy="5150088"/>
          </a:xfrm>
          <a:custGeom>
            <a:avLst/>
            <a:gdLst/>
            <a:ahLst/>
            <a:cxnLst/>
            <a:rect l="l" t="t" r="r" b="b"/>
            <a:pathLst>
              <a:path w="5268632" h="5150088">
                <a:moveTo>
                  <a:pt x="0" y="0"/>
                </a:moveTo>
                <a:lnTo>
                  <a:pt x="5268632" y="0"/>
                </a:lnTo>
                <a:lnTo>
                  <a:pt x="5268632" y="5150087"/>
                </a:lnTo>
                <a:lnTo>
                  <a:pt x="0" y="5150087"/>
                </a:lnTo>
                <a:lnTo>
                  <a:pt x="0" y="0"/>
                </a:lnTo>
                <a:close/>
              </a:path>
            </a:pathLst>
          </a:custGeom>
          <a:blipFill>
            <a:blip r:embed="rId3"/>
            <a:stretch>
              <a:fillRect/>
            </a:stretch>
          </a:blipFill>
        </p:spPr>
      </p:sp>
      <p:sp>
        <p:nvSpPr>
          <p:cNvPr id="10" name="Freeform 10"/>
          <p:cNvSpPr/>
          <p:nvPr/>
        </p:nvSpPr>
        <p:spPr>
          <a:xfrm>
            <a:off x="2123102" y="1234523"/>
            <a:ext cx="14041796" cy="9052477"/>
          </a:xfrm>
          <a:custGeom>
            <a:avLst/>
            <a:gdLst/>
            <a:ahLst/>
            <a:cxnLst/>
            <a:rect l="l" t="t" r="r" b="b"/>
            <a:pathLst>
              <a:path w="14041796" h="9052477">
                <a:moveTo>
                  <a:pt x="0" y="0"/>
                </a:moveTo>
                <a:lnTo>
                  <a:pt x="14041796" y="0"/>
                </a:lnTo>
                <a:lnTo>
                  <a:pt x="14041796" y="9052477"/>
                </a:lnTo>
                <a:lnTo>
                  <a:pt x="0" y="9052477"/>
                </a:lnTo>
                <a:lnTo>
                  <a:pt x="0" y="0"/>
                </a:lnTo>
                <a:close/>
              </a:path>
            </a:pathLst>
          </a:custGeom>
          <a:blipFill>
            <a:blip r:embed="rId4"/>
            <a:stretch>
              <a:fillRect/>
            </a:stretch>
          </a:blipFill>
        </p:spPr>
      </p:sp>
      <p:sp>
        <p:nvSpPr>
          <p:cNvPr id="11" name="TextBox 11"/>
          <p:cNvSpPr txBox="1"/>
          <p:nvPr/>
        </p:nvSpPr>
        <p:spPr>
          <a:xfrm>
            <a:off x="4824829" y="-56975"/>
            <a:ext cx="8638342" cy="1085675"/>
          </a:xfrm>
          <a:prstGeom prst="rect">
            <a:avLst/>
          </a:prstGeom>
        </p:spPr>
        <p:txBody>
          <a:bodyPr lIns="0" tIns="0" rIns="0" bIns="0" rtlCol="0" anchor="t">
            <a:spAutoFit/>
          </a:bodyPr>
          <a:lstStyle/>
          <a:p>
            <a:pPr algn="ctr">
              <a:lnSpc>
                <a:spcPts val="8724"/>
              </a:lnSpc>
            </a:pPr>
            <a:r>
              <a:rPr lang="en-US" sz="6231">
                <a:solidFill>
                  <a:srgbClr val="048AFF"/>
                </a:solidFill>
                <a:latin typeface="Now Bold"/>
              </a:rPr>
              <a:t>Model Demonstration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stretch>
              <a:fillRect t="-38888" b="-38888"/>
            </a:stretch>
          </a:blipFill>
        </p:spPr>
      </p:sp>
      <p:grpSp>
        <p:nvGrpSpPr>
          <p:cNvPr id="3" name="Group 3"/>
          <p:cNvGrpSpPr/>
          <p:nvPr/>
        </p:nvGrpSpPr>
        <p:grpSpPr>
          <a:xfrm>
            <a:off x="-4426939" y="0"/>
            <a:ext cx="6782652" cy="10287000"/>
            <a:chOff x="0" y="0"/>
            <a:chExt cx="1786377" cy="2709333"/>
          </a:xfrm>
        </p:grpSpPr>
        <p:sp>
          <p:nvSpPr>
            <p:cNvPr id="4" name="Freeform 4"/>
            <p:cNvSpPr/>
            <p:nvPr/>
          </p:nvSpPr>
          <p:spPr>
            <a:xfrm>
              <a:off x="0" y="0"/>
              <a:ext cx="1786377" cy="2709333"/>
            </a:xfrm>
            <a:custGeom>
              <a:avLst/>
              <a:gdLst/>
              <a:ahLst/>
              <a:cxnLst/>
              <a:rect l="l" t="t" r="r" b="b"/>
              <a:pathLst>
                <a:path w="1786377" h="2709333">
                  <a:moveTo>
                    <a:pt x="0" y="0"/>
                  </a:moveTo>
                  <a:lnTo>
                    <a:pt x="1786377" y="0"/>
                  </a:lnTo>
                  <a:lnTo>
                    <a:pt x="1786377" y="2709333"/>
                  </a:lnTo>
                  <a:lnTo>
                    <a:pt x="0" y="2709333"/>
                  </a:ln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p:spPr>
        </p:sp>
        <p:sp>
          <p:nvSpPr>
            <p:cNvPr id="5" name="TextBox 5"/>
            <p:cNvSpPr txBox="1"/>
            <p:nvPr/>
          </p:nvSpPr>
          <p:spPr>
            <a:xfrm>
              <a:off x="0" y="-9525"/>
              <a:ext cx="1786377" cy="2718858"/>
            </a:xfrm>
            <a:prstGeom prst="rect">
              <a:avLst/>
            </a:prstGeom>
          </p:spPr>
          <p:txBody>
            <a:bodyPr lIns="50800" tIns="50800" rIns="50800" bIns="50800" rtlCol="0" anchor="ctr"/>
            <a:lstStyle/>
            <a:p>
              <a:pPr algn="ctr">
                <a:lnSpc>
                  <a:spcPts val="3131"/>
                </a:lnSpc>
              </a:pPr>
              <a:endParaRPr/>
            </a:p>
          </p:txBody>
        </p:sp>
      </p:grpSp>
      <p:sp>
        <p:nvSpPr>
          <p:cNvPr id="6" name="Freeform 6"/>
          <p:cNvSpPr/>
          <p:nvPr/>
        </p:nvSpPr>
        <p:spPr>
          <a:xfrm rot="-1486492">
            <a:off x="15563637" y="8055643"/>
            <a:ext cx="3391326" cy="3387087"/>
          </a:xfrm>
          <a:custGeom>
            <a:avLst/>
            <a:gdLst/>
            <a:ahLst/>
            <a:cxnLst/>
            <a:rect l="l" t="t" r="r" b="b"/>
            <a:pathLst>
              <a:path w="3391326" h="3387087">
                <a:moveTo>
                  <a:pt x="0" y="0"/>
                </a:moveTo>
                <a:lnTo>
                  <a:pt x="3391326" y="0"/>
                </a:lnTo>
                <a:lnTo>
                  <a:pt x="3391326" y="3387087"/>
                </a:lnTo>
                <a:lnTo>
                  <a:pt x="0" y="3387087"/>
                </a:lnTo>
                <a:lnTo>
                  <a:pt x="0" y="0"/>
                </a:lnTo>
                <a:close/>
              </a:path>
            </a:pathLst>
          </a:custGeom>
          <a:blipFill>
            <a:blip r:embed="rId3"/>
            <a:stretch>
              <a:fillRect/>
            </a:stretch>
          </a:blipFill>
        </p:spPr>
      </p:sp>
      <p:sp>
        <p:nvSpPr>
          <p:cNvPr id="7" name="Freeform 7"/>
          <p:cNvSpPr/>
          <p:nvPr/>
        </p:nvSpPr>
        <p:spPr>
          <a:xfrm rot="1973881">
            <a:off x="12869941" y="-1899995"/>
            <a:ext cx="3391326" cy="3387087"/>
          </a:xfrm>
          <a:custGeom>
            <a:avLst/>
            <a:gdLst/>
            <a:ahLst/>
            <a:cxnLst/>
            <a:rect l="l" t="t" r="r" b="b"/>
            <a:pathLst>
              <a:path w="3391326" h="3387087">
                <a:moveTo>
                  <a:pt x="0" y="0"/>
                </a:moveTo>
                <a:lnTo>
                  <a:pt x="3391326" y="0"/>
                </a:lnTo>
                <a:lnTo>
                  <a:pt x="3391326" y="3387087"/>
                </a:lnTo>
                <a:lnTo>
                  <a:pt x="0" y="3387087"/>
                </a:lnTo>
                <a:lnTo>
                  <a:pt x="0" y="0"/>
                </a:lnTo>
                <a:close/>
              </a:path>
            </a:pathLst>
          </a:custGeom>
          <a:blipFill>
            <a:blip r:embed="rId3"/>
            <a:stretch>
              <a:fillRect/>
            </a:stretch>
          </a:blipFill>
        </p:spPr>
      </p:sp>
      <p:grpSp>
        <p:nvGrpSpPr>
          <p:cNvPr id="8" name="Group 8"/>
          <p:cNvGrpSpPr/>
          <p:nvPr/>
        </p:nvGrpSpPr>
        <p:grpSpPr>
          <a:xfrm>
            <a:off x="1477033" y="2412307"/>
            <a:ext cx="1757360" cy="175736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a:ln w="190500" cap="sq">
              <a:solidFill>
                <a:srgbClr val="04001E"/>
              </a:solidFill>
              <a:prstDash val="solid"/>
              <a:miter/>
            </a:ln>
          </p:spPr>
        </p:sp>
        <p:sp>
          <p:nvSpPr>
            <p:cNvPr id="10" name="TextBox 10"/>
            <p:cNvSpPr txBox="1"/>
            <p:nvPr/>
          </p:nvSpPr>
          <p:spPr>
            <a:xfrm>
              <a:off x="76200" y="66675"/>
              <a:ext cx="660400" cy="669925"/>
            </a:xfrm>
            <a:prstGeom prst="rect">
              <a:avLst/>
            </a:prstGeom>
          </p:spPr>
          <p:txBody>
            <a:bodyPr lIns="50800" tIns="50800" rIns="50800" bIns="50800" rtlCol="0" anchor="ctr"/>
            <a:lstStyle/>
            <a:p>
              <a:pPr algn="ctr">
                <a:lnSpc>
                  <a:spcPts val="3131"/>
                </a:lnSpc>
              </a:pPr>
              <a:endParaRPr/>
            </a:p>
          </p:txBody>
        </p:sp>
      </p:grpSp>
      <p:grpSp>
        <p:nvGrpSpPr>
          <p:cNvPr id="11" name="Group 11"/>
          <p:cNvGrpSpPr/>
          <p:nvPr/>
        </p:nvGrpSpPr>
        <p:grpSpPr>
          <a:xfrm>
            <a:off x="1477033" y="4933119"/>
            <a:ext cx="1757360" cy="175736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a:ln w="190500" cap="sq">
              <a:solidFill>
                <a:srgbClr val="04001E"/>
              </a:solidFill>
              <a:prstDash val="solid"/>
              <a:miter/>
            </a:ln>
          </p:spPr>
        </p:sp>
        <p:sp>
          <p:nvSpPr>
            <p:cNvPr id="13" name="TextBox 13"/>
            <p:cNvSpPr txBox="1"/>
            <p:nvPr/>
          </p:nvSpPr>
          <p:spPr>
            <a:xfrm>
              <a:off x="76200" y="66675"/>
              <a:ext cx="660400" cy="669925"/>
            </a:xfrm>
            <a:prstGeom prst="rect">
              <a:avLst/>
            </a:prstGeom>
          </p:spPr>
          <p:txBody>
            <a:bodyPr lIns="50800" tIns="50800" rIns="50800" bIns="50800" rtlCol="0" anchor="ctr"/>
            <a:lstStyle/>
            <a:p>
              <a:pPr algn="ctr">
                <a:lnSpc>
                  <a:spcPts val="3131"/>
                </a:lnSpc>
              </a:pPr>
              <a:endParaRPr/>
            </a:p>
          </p:txBody>
        </p:sp>
      </p:grpSp>
      <p:grpSp>
        <p:nvGrpSpPr>
          <p:cNvPr id="14" name="Group 14"/>
          <p:cNvGrpSpPr/>
          <p:nvPr/>
        </p:nvGrpSpPr>
        <p:grpSpPr>
          <a:xfrm>
            <a:off x="1477033" y="7252649"/>
            <a:ext cx="1757360" cy="175736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a:ln w="190500" cap="sq">
              <a:solidFill>
                <a:srgbClr val="04001E"/>
              </a:solidFill>
              <a:prstDash val="solid"/>
              <a:miter/>
            </a:ln>
          </p:spPr>
        </p:sp>
        <p:sp>
          <p:nvSpPr>
            <p:cNvPr id="16" name="TextBox 16"/>
            <p:cNvSpPr txBox="1"/>
            <p:nvPr/>
          </p:nvSpPr>
          <p:spPr>
            <a:xfrm>
              <a:off x="76200" y="66675"/>
              <a:ext cx="660400" cy="669925"/>
            </a:xfrm>
            <a:prstGeom prst="rect">
              <a:avLst/>
            </a:prstGeom>
          </p:spPr>
          <p:txBody>
            <a:bodyPr lIns="50800" tIns="50800" rIns="50800" bIns="50800" rtlCol="0" anchor="ctr"/>
            <a:lstStyle/>
            <a:p>
              <a:pPr algn="ctr">
                <a:lnSpc>
                  <a:spcPts val="3131"/>
                </a:lnSpc>
              </a:pPr>
              <a:endParaRPr/>
            </a:p>
          </p:txBody>
        </p:sp>
      </p:grpSp>
      <p:sp>
        <p:nvSpPr>
          <p:cNvPr id="17" name="Freeform 17"/>
          <p:cNvSpPr/>
          <p:nvPr/>
        </p:nvSpPr>
        <p:spPr>
          <a:xfrm>
            <a:off x="1808108" y="2843372"/>
            <a:ext cx="1040965" cy="895230"/>
          </a:xfrm>
          <a:custGeom>
            <a:avLst/>
            <a:gdLst/>
            <a:ahLst/>
            <a:cxnLst/>
            <a:rect l="l" t="t" r="r" b="b"/>
            <a:pathLst>
              <a:path w="1040965" h="895230">
                <a:moveTo>
                  <a:pt x="0" y="0"/>
                </a:moveTo>
                <a:lnTo>
                  <a:pt x="1040965" y="0"/>
                </a:lnTo>
                <a:lnTo>
                  <a:pt x="1040965" y="895230"/>
                </a:lnTo>
                <a:lnTo>
                  <a:pt x="0" y="8952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1965839" y="5151774"/>
            <a:ext cx="883234" cy="1320051"/>
          </a:xfrm>
          <a:custGeom>
            <a:avLst/>
            <a:gdLst/>
            <a:ahLst/>
            <a:cxnLst/>
            <a:rect l="l" t="t" r="r" b="b"/>
            <a:pathLst>
              <a:path w="883234" h="1320051">
                <a:moveTo>
                  <a:pt x="0" y="0"/>
                </a:moveTo>
                <a:lnTo>
                  <a:pt x="883234" y="0"/>
                </a:lnTo>
                <a:lnTo>
                  <a:pt x="883234" y="1320051"/>
                </a:lnTo>
                <a:lnTo>
                  <a:pt x="0" y="13200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9" name="Freeform 19"/>
          <p:cNvSpPr/>
          <p:nvPr/>
        </p:nvSpPr>
        <p:spPr>
          <a:xfrm>
            <a:off x="1682757" y="7500940"/>
            <a:ext cx="1291667" cy="1291667"/>
          </a:xfrm>
          <a:custGeom>
            <a:avLst/>
            <a:gdLst/>
            <a:ahLst/>
            <a:cxnLst/>
            <a:rect l="l" t="t" r="r" b="b"/>
            <a:pathLst>
              <a:path w="1291667" h="1291667">
                <a:moveTo>
                  <a:pt x="0" y="0"/>
                </a:moveTo>
                <a:lnTo>
                  <a:pt x="1291667" y="0"/>
                </a:lnTo>
                <a:lnTo>
                  <a:pt x="1291667" y="1291667"/>
                </a:lnTo>
                <a:lnTo>
                  <a:pt x="0" y="129166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0" name="TextBox 20"/>
          <p:cNvSpPr txBox="1"/>
          <p:nvPr/>
        </p:nvSpPr>
        <p:spPr>
          <a:xfrm>
            <a:off x="3261516" y="432170"/>
            <a:ext cx="6075771" cy="1029220"/>
          </a:xfrm>
          <a:prstGeom prst="rect">
            <a:avLst/>
          </a:prstGeom>
        </p:spPr>
        <p:txBody>
          <a:bodyPr lIns="0" tIns="0" rIns="0" bIns="0" rtlCol="0" anchor="t">
            <a:spAutoFit/>
          </a:bodyPr>
          <a:lstStyle/>
          <a:p>
            <a:pPr marL="0" lvl="0" indent="0">
              <a:lnSpc>
                <a:spcPts val="8396"/>
              </a:lnSpc>
              <a:spcBef>
                <a:spcPct val="0"/>
              </a:spcBef>
            </a:pPr>
            <a:r>
              <a:rPr lang="en-US" sz="6040">
                <a:solidFill>
                  <a:srgbClr val="048AFF"/>
                </a:solidFill>
                <a:latin typeface="Now Bold"/>
              </a:rPr>
              <a:t>Future Scope</a:t>
            </a:r>
          </a:p>
        </p:txBody>
      </p:sp>
      <p:sp>
        <p:nvSpPr>
          <p:cNvPr id="21" name="TextBox 21"/>
          <p:cNvSpPr txBox="1"/>
          <p:nvPr/>
        </p:nvSpPr>
        <p:spPr>
          <a:xfrm>
            <a:off x="3782804" y="2702184"/>
            <a:ext cx="13126384" cy="1810830"/>
          </a:xfrm>
          <a:prstGeom prst="rect">
            <a:avLst/>
          </a:prstGeom>
        </p:spPr>
        <p:txBody>
          <a:bodyPr lIns="0" tIns="0" rIns="0" bIns="0" rtlCol="0" anchor="t">
            <a:spAutoFit/>
          </a:bodyPr>
          <a:lstStyle/>
          <a:p>
            <a:pPr>
              <a:lnSpc>
                <a:spcPts val="2888"/>
              </a:lnSpc>
            </a:pPr>
            <a:r>
              <a:rPr lang="en-US" sz="1978">
                <a:solidFill>
                  <a:srgbClr val="FFFFFF"/>
                </a:solidFill>
                <a:latin typeface="DM Sans"/>
              </a:rPr>
              <a:t>To enhance our Live Lecture Support System, we're introducing a flow chart within the chatbot interface. It will display the professor's name, current student count, and questions asked during lectures. Analyzing these questions will help us understand student engagement and comprehension levels. We'll integrate a feedback mechanism into the chatbot, eliminating traditional form-filling. This data-driven approach ensures continuous improvement tailored to student needs.</a:t>
            </a:r>
          </a:p>
        </p:txBody>
      </p:sp>
      <p:sp>
        <p:nvSpPr>
          <p:cNvPr id="22" name="TextBox 22"/>
          <p:cNvSpPr txBox="1"/>
          <p:nvPr/>
        </p:nvSpPr>
        <p:spPr>
          <a:xfrm>
            <a:off x="3782804" y="2156715"/>
            <a:ext cx="6001096" cy="454034"/>
          </a:xfrm>
          <a:prstGeom prst="rect">
            <a:avLst/>
          </a:prstGeom>
        </p:spPr>
        <p:txBody>
          <a:bodyPr lIns="0" tIns="0" rIns="0" bIns="0" rtlCol="0" anchor="t">
            <a:spAutoFit/>
          </a:bodyPr>
          <a:lstStyle/>
          <a:p>
            <a:pPr>
              <a:lnSpc>
                <a:spcPts val="3629"/>
              </a:lnSpc>
            </a:pPr>
            <a:r>
              <a:rPr lang="en-US" sz="2611">
                <a:solidFill>
                  <a:srgbClr val="B100E8"/>
                </a:solidFill>
                <a:latin typeface="Now Bold"/>
              </a:rPr>
              <a:t>Enhanced Feedback Mechanism</a:t>
            </a:r>
          </a:p>
        </p:txBody>
      </p:sp>
      <p:sp>
        <p:nvSpPr>
          <p:cNvPr id="23" name="TextBox 23"/>
          <p:cNvSpPr txBox="1"/>
          <p:nvPr/>
        </p:nvSpPr>
        <p:spPr>
          <a:xfrm>
            <a:off x="3782804" y="5611063"/>
            <a:ext cx="13126384" cy="1079416"/>
          </a:xfrm>
          <a:prstGeom prst="rect">
            <a:avLst/>
          </a:prstGeom>
        </p:spPr>
        <p:txBody>
          <a:bodyPr lIns="0" tIns="0" rIns="0" bIns="0" rtlCol="0" anchor="t">
            <a:spAutoFit/>
          </a:bodyPr>
          <a:lstStyle/>
          <a:p>
            <a:pPr>
              <a:lnSpc>
                <a:spcPts val="2888"/>
              </a:lnSpc>
            </a:pPr>
            <a:r>
              <a:rPr lang="en-US" sz="1978">
                <a:solidFill>
                  <a:srgbClr val="FFFFFF"/>
                </a:solidFill>
                <a:latin typeface="DM Sans"/>
              </a:rPr>
              <a:t>We're crafting algorithms to detect common student questions during lectures, offering instant suggestions via the chatbot interface. This accelerates response time, providing swift assistance and improving the overall learning process.</a:t>
            </a:r>
          </a:p>
        </p:txBody>
      </p:sp>
      <p:sp>
        <p:nvSpPr>
          <p:cNvPr id="24" name="TextBox 24"/>
          <p:cNvSpPr txBox="1"/>
          <p:nvPr/>
        </p:nvSpPr>
        <p:spPr>
          <a:xfrm>
            <a:off x="3782804" y="5069169"/>
            <a:ext cx="6242199" cy="454034"/>
          </a:xfrm>
          <a:prstGeom prst="rect">
            <a:avLst/>
          </a:prstGeom>
        </p:spPr>
        <p:txBody>
          <a:bodyPr lIns="0" tIns="0" rIns="0" bIns="0" rtlCol="0" anchor="t">
            <a:spAutoFit/>
          </a:bodyPr>
          <a:lstStyle/>
          <a:p>
            <a:pPr>
              <a:lnSpc>
                <a:spcPts val="3629"/>
              </a:lnSpc>
            </a:pPr>
            <a:r>
              <a:rPr lang="en-US" sz="2611">
                <a:solidFill>
                  <a:srgbClr val="B100E8"/>
                </a:solidFill>
                <a:latin typeface="Now Bold"/>
              </a:rPr>
              <a:t>Intelligent Question Suggestions</a:t>
            </a:r>
          </a:p>
        </p:txBody>
      </p:sp>
      <p:sp>
        <p:nvSpPr>
          <p:cNvPr id="25" name="TextBox 25"/>
          <p:cNvSpPr txBox="1"/>
          <p:nvPr/>
        </p:nvSpPr>
        <p:spPr>
          <a:xfrm>
            <a:off x="3782804" y="7930593"/>
            <a:ext cx="13126384" cy="713709"/>
          </a:xfrm>
          <a:prstGeom prst="rect">
            <a:avLst/>
          </a:prstGeom>
        </p:spPr>
        <p:txBody>
          <a:bodyPr lIns="0" tIns="0" rIns="0" bIns="0" rtlCol="0" anchor="t">
            <a:spAutoFit/>
          </a:bodyPr>
          <a:lstStyle/>
          <a:p>
            <a:pPr>
              <a:lnSpc>
                <a:spcPts val="2888"/>
              </a:lnSpc>
            </a:pPr>
            <a:r>
              <a:rPr lang="en-US" sz="1978">
                <a:solidFill>
                  <a:srgbClr val="FFFFFF"/>
                </a:solidFill>
                <a:latin typeface="DM Sans"/>
              </a:rPr>
              <a:t>We're integrating a table of contents feature into the chatbot interface, aligned with the BITS lecture handbook. This enables seamless navigation through lecture materials, assisting students in exam preparation and revision.</a:t>
            </a:r>
          </a:p>
        </p:txBody>
      </p:sp>
      <p:sp>
        <p:nvSpPr>
          <p:cNvPr id="26" name="TextBox 26"/>
          <p:cNvSpPr txBox="1"/>
          <p:nvPr/>
        </p:nvSpPr>
        <p:spPr>
          <a:xfrm>
            <a:off x="3782804" y="7388699"/>
            <a:ext cx="6885141" cy="454034"/>
          </a:xfrm>
          <a:prstGeom prst="rect">
            <a:avLst/>
          </a:prstGeom>
        </p:spPr>
        <p:txBody>
          <a:bodyPr lIns="0" tIns="0" rIns="0" bIns="0" rtlCol="0" anchor="t">
            <a:spAutoFit/>
          </a:bodyPr>
          <a:lstStyle/>
          <a:p>
            <a:pPr>
              <a:lnSpc>
                <a:spcPts val="3629"/>
              </a:lnSpc>
            </a:pPr>
            <a:r>
              <a:rPr lang="en-US" sz="2611">
                <a:solidFill>
                  <a:srgbClr val="B100E8"/>
                </a:solidFill>
                <a:latin typeface="Now Bold"/>
              </a:rPr>
              <a:t>Comprehensive Content Navigation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stretch>
              <a:fillRect t="-38888" b="-38888"/>
            </a:stretch>
          </a:blipFill>
        </p:spPr>
      </p:sp>
      <p:grpSp>
        <p:nvGrpSpPr>
          <p:cNvPr id="3" name="Group 3"/>
          <p:cNvGrpSpPr/>
          <p:nvPr/>
        </p:nvGrpSpPr>
        <p:grpSpPr>
          <a:xfrm>
            <a:off x="-4426939" y="0"/>
            <a:ext cx="6782652" cy="10287000"/>
            <a:chOff x="0" y="0"/>
            <a:chExt cx="1786377" cy="2709333"/>
          </a:xfrm>
        </p:grpSpPr>
        <p:sp>
          <p:nvSpPr>
            <p:cNvPr id="4" name="Freeform 4"/>
            <p:cNvSpPr/>
            <p:nvPr/>
          </p:nvSpPr>
          <p:spPr>
            <a:xfrm>
              <a:off x="0" y="0"/>
              <a:ext cx="1786377" cy="2709333"/>
            </a:xfrm>
            <a:custGeom>
              <a:avLst/>
              <a:gdLst/>
              <a:ahLst/>
              <a:cxnLst/>
              <a:rect l="l" t="t" r="r" b="b"/>
              <a:pathLst>
                <a:path w="1786377" h="2709333">
                  <a:moveTo>
                    <a:pt x="0" y="0"/>
                  </a:moveTo>
                  <a:lnTo>
                    <a:pt x="1786377" y="0"/>
                  </a:lnTo>
                  <a:lnTo>
                    <a:pt x="1786377" y="2709333"/>
                  </a:lnTo>
                  <a:lnTo>
                    <a:pt x="0" y="2709333"/>
                  </a:ln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p:spPr>
        </p:sp>
        <p:sp>
          <p:nvSpPr>
            <p:cNvPr id="5" name="TextBox 5"/>
            <p:cNvSpPr txBox="1"/>
            <p:nvPr/>
          </p:nvSpPr>
          <p:spPr>
            <a:xfrm>
              <a:off x="0" y="-9525"/>
              <a:ext cx="1786377" cy="2718858"/>
            </a:xfrm>
            <a:prstGeom prst="rect">
              <a:avLst/>
            </a:prstGeom>
          </p:spPr>
          <p:txBody>
            <a:bodyPr lIns="50800" tIns="50800" rIns="50800" bIns="50800" rtlCol="0" anchor="ctr"/>
            <a:lstStyle/>
            <a:p>
              <a:pPr algn="ctr">
                <a:lnSpc>
                  <a:spcPts val="3131"/>
                </a:lnSpc>
              </a:pPr>
              <a:endParaRPr/>
            </a:p>
          </p:txBody>
        </p:sp>
      </p:grpSp>
      <p:sp>
        <p:nvSpPr>
          <p:cNvPr id="6" name="Freeform 6"/>
          <p:cNvSpPr/>
          <p:nvPr/>
        </p:nvSpPr>
        <p:spPr>
          <a:xfrm rot="-1486492">
            <a:off x="15563637" y="8055643"/>
            <a:ext cx="3391326" cy="3387087"/>
          </a:xfrm>
          <a:custGeom>
            <a:avLst/>
            <a:gdLst/>
            <a:ahLst/>
            <a:cxnLst/>
            <a:rect l="l" t="t" r="r" b="b"/>
            <a:pathLst>
              <a:path w="3391326" h="3387087">
                <a:moveTo>
                  <a:pt x="0" y="0"/>
                </a:moveTo>
                <a:lnTo>
                  <a:pt x="3391326" y="0"/>
                </a:lnTo>
                <a:lnTo>
                  <a:pt x="3391326" y="3387087"/>
                </a:lnTo>
                <a:lnTo>
                  <a:pt x="0" y="3387087"/>
                </a:lnTo>
                <a:lnTo>
                  <a:pt x="0" y="0"/>
                </a:lnTo>
                <a:close/>
              </a:path>
            </a:pathLst>
          </a:custGeom>
          <a:blipFill>
            <a:blip r:embed="rId3"/>
            <a:stretch>
              <a:fillRect/>
            </a:stretch>
          </a:blipFill>
        </p:spPr>
      </p:sp>
      <p:sp>
        <p:nvSpPr>
          <p:cNvPr id="7" name="Freeform 7"/>
          <p:cNvSpPr/>
          <p:nvPr/>
        </p:nvSpPr>
        <p:spPr>
          <a:xfrm rot="1973881">
            <a:off x="12869941" y="-1899995"/>
            <a:ext cx="3391326" cy="3387087"/>
          </a:xfrm>
          <a:custGeom>
            <a:avLst/>
            <a:gdLst/>
            <a:ahLst/>
            <a:cxnLst/>
            <a:rect l="l" t="t" r="r" b="b"/>
            <a:pathLst>
              <a:path w="3391326" h="3387087">
                <a:moveTo>
                  <a:pt x="0" y="0"/>
                </a:moveTo>
                <a:lnTo>
                  <a:pt x="3391326" y="0"/>
                </a:lnTo>
                <a:lnTo>
                  <a:pt x="3391326" y="3387087"/>
                </a:lnTo>
                <a:lnTo>
                  <a:pt x="0" y="3387087"/>
                </a:lnTo>
                <a:lnTo>
                  <a:pt x="0" y="0"/>
                </a:lnTo>
                <a:close/>
              </a:path>
            </a:pathLst>
          </a:custGeom>
          <a:blipFill>
            <a:blip r:embed="rId3"/>
            <a:stretch>
              <a:fillRect/>
            </a:stretch>
          </a:blipFill>
        </p:spPr>
      </p:sp>
      <p:grpSp>
        <p:nvGrpSpPr>
          <p:cNvPr id="8" name="Group 8"/>
          <p:cNvGrpSpPr/>
          <p:nvPr/>
        </p:nvGrpSpPr>
        <p:grpSpPr>
          <a:xfrm>
            <a:off x="1477033" y="2147060"/>
            <a:ext cx="1757360" cy="175736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a:ln w="190500" cap="sq">
              <a:solidFill>
                <a:srgbClr val="04001E"/>
              </a:solidFill>
              <a:prstDash val="solid"/>
              <a:miter/>
            </a:ln>
          </p:spPr>
        </p:sp>
        <p:sp>
          <p:nvSpPr>
            <p:cNvPr id="10" name="TextBox 10"/>
            <p:cNvSpPr txBox="1"/>
            <p:nvPr/>
          </p:nvSpPr>
          <p:spPr>
            <a:xfrm>
              <a:off x="76200" y="66675"/>
              <a:ext cx="660400" cy="669925"/>
            </a:xfrm>
            <a:prstGeom prst="rect">
              <a:avLst/>
            </a:prstGeom>
          </p:spPr>
          <p:txBody>
            <a:bodyPr lIns="50800" tIns="50800" rIns="50800" bIns="50800" rtlCol="0" anchor="ctr"/>
            <a:lstStyle/>
            <a:p>
              <a:pPr algn="ctr">
                <a:lnSpc>
                  <a:spcPts val="3131"/>
                </a:lnSpc>
              </a:pPr>
              <a:endParaRPr/>
            </a:p>
          </p:txBody>
        </p:sp>
      </p:grpSp>
      <p:grpSp>
        <p:nvGrpSpPr>
          <p:cNvPr id="11" name="Group 11"/>
          <p:cNvGrpSpPr/>
          <p:nvPr/>
        </p:nvGrpSpPr>
        <p:grpSpPr>
          <a:xfrm>
            <a:off x="1477033" y="4933119"/>
            <a:ext cx="1757360" cy="175736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a:ln w="190500" cap="sq">
              <a:solidFill>
                <a:srgbClr val="04001E"/>
              </a:solidFill>
              <a:prstDash val="solid"/>
              <a:miter/>
            </a:ln>
          </p:spPr>
        </p:sp>
        <p:sp>
          <p:nvSpPr>
            <p:cNvPr id="13" name="TextBox 13"/>
            <p:cNvSpPr txBox="1"/>
            <p:nvPr/>
          </p:nvSpPr>
          <p:spPr>
            <a:xfrm>
              <a:off x="76200" y="66675"/>
              <a:ext cx="660400" cy="669925"/>
            </a:xfrm>
            <a:prstGeom prst="rect">
              <a:avLst/>
            </a:prstGeom>
          </p:spPr>
          <p:txBody>
            <a:bodyPr lIns="50800" tIns="50800" rIns="50800" bIns="50800" rtlCol="0" anchor="ctr"/>
            <a:lstStyle/>
            <a:p>
              <a:pPr algn="ctr">
                <a:lnSpc>
                  <a:spcPts val="3131"/>
                </a:lnSpc>
              </a:pPr>
              <a:endParaRPr/>
            </a:p>
          </p:txBody>
        </p:sp>
      </p:grpSp>
      <p:grpSp>
        <p:nvGrpSpPr>
          <p:cNvPr id="14" name="Group 14"/>
          <p:cNvGrpSpPr/>
          <p:nvPr/>
        </p:nvGrpSpPr>
        <p:grpSpPr>
          <a:xfrm>
            <a:off x="1477033" y="7252649"/>
            <a:ext cx="1757360" cy="175736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a:ln w="190500" cap="sq">
              <a:solidFill>
                <a:srgbClr val="04001E"/>
              </a:solidFill>
              <a:prstDash val="solid"/>
              <a:miter/>
            </a:ln>
          </p:spPr>
        </p:sp>
        <p:sp>
          <p:nvSpPr>
            <p:cNvPr id="16" name="TextBox 16"/>
            <p:cNvSpPr txBox="1"/>
            <p:nvPr/>
          </p:nvSpPr>
          <p:spPr>
            <a:xfrm>
              <a:off x="76200" y="66675"/>
              <a:ext cx="660400" cy="669925"/>
            </a:xfrm>
            <a:prstGeom prst="rect">
              <a:avLst/>
            </a:prstGeom>
          </p:spPr>
          <p:txBody>
            <a:bodyPr lIns="50800" tIns="50800" rIns="50800" bIns="50800" rtlCol="0" anchor="ctr"/>
            <a:lstStyle/>
            <a:p>
              <a:pPr algn="ctr">
                <a:lnSpc>
                  <a:spcPts val="3131"/>
                </a:lnSpc>
              </a:pPr>
              <a:endParaRPr/>
            </a:p>
          </p:txBody>
        </p:sp>
      </p:grpSp>
      <p:sp>
        <p:nvSpPr>
          <p:cNvPr id="17" name="Freeform 17"/>
          <p:cNvSpPr/>
          <p:nvPr/>
        </p:nvSpPr>
        <p:spPr>
          <a:xfrm>
            <a:off x="1768025" y="2438052"/>
            <a:ext cx="1175376" cy="1175376"/>
          </a:xfrm>
          <a:custGeom>
            <a:avLst/>
            <a:gdLst/>
            <a:ahLst/>
            <a:cxnLst/>
            <a:rect l="l" t="t" r="r" b="b"/>
            <a:pathLst>
              <a:path w="1175376" h="1175376">
                <a:moveTo>
                  <a:pt x="0" y="0"/>
                </a:moveTo>
                <a:lnTo>
                  <a:pt x="1175376" y="0"/>
                </a:lnTo>
                <a:lnTo>
                  <a:pt x="1175376" y="1175375"/>
                </a:lnTo>
                <a:lnTo>
                  <a:pt x="0" y="11753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1870346" y="5351572"/>
            <a:ext cx="970733" cy="970733"/>
          </a:xfrm>
          <a:custGeom>
            <a:avLst/>
            <a:gdLst/>
            <a:ahLst/>
            <a:cxnLst/>
            <a:rect l="l" t="t" r="r" b="b"/>
            <a:pathLst>
              <a:path w="970733" h="970733">
                <a:moveTo>
                  <a:pt x="0" y="0"/>
                </a:moveTo>
                <a:lnTo>
                  <a:pt x="970734" y="0"/>
                </a:lnTo>
                <a:lnTo>
                  <a:pt x="970734" y="970733"/>
                </a:lnTo>
                <a:lnTo>
                  <a:pt x="0" y="9707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9" name="TextBox 19"/>
          <p:cNvSpPr txBox="1"/>
          <p:nvPr/>
        </p:nvSpPr>
        <p:spPr>
          <a:xfrm>
            <a:off x="3261516" y="432170"/>
            <a:ext cx="6075771" cy="1029220"/>
          </a:xfrm>
          <a:prstGeom prst="rect">
            <a:avLst/>
          </a:prstGeom>
        </p:spPr>
        <p:txBody>
          <a:bodyPr lIns="0" tIns="0" rIns="0" bIns="0" rtlCol="0" anchor="t">
            <a:spAutoFit/>
          </a:bodyPr>
          <a:lstStyle/>
          <a:p>
            <a:pPr marL="0" lvl="0" indent="0">
              <a:lnSpc>
                <a:spcPts val="8396"/>
              </a:lnSpc>
              <a:spcBef>
                <a:spcPct val="0"/>
              </a:spcBef>
            </a:pPr>
            <a:r>
              <a:rPr lang="en-US" sz="6040">
                <a:solidFill>
                  <a:srgbClr val="048AFF"/>
                </a:solidFill>
                <a:latin typeface="Now Bold"/>
              </a:rPr>
              <a:t>Future Scope</a:t>
            </a:r>
          </a:p>
        </p:txBody>
      </p:sp>
      <p:sp>
        <p:nvSpPr>
          <p:cNvPr id="20" name="TextBox 20"/>
          <p:cNvSpPr txBox="1"/>
          <p:nvPr/>
        </p:nvSpPr>
        <p:spPr>
          <a:xfrm>
            <a:off x="3782804" y="2903662"/>
            <a:ext cx="13126384" cy="750519"/>
          </a:xfrm>
          <a:prstGeom prst="rect">
            <a:avLst/>
          </a:prstGeom>
        </p:spPr>
        <p:txBody>
          <a:bodyPr lIns="0" tIns="0" rIns="0" bIns="0" rtlCol="0" anchor="t">
            <a:spAutoFit/>
          </a:bodyPr>
          <a:lstStyle/>
          <a:p>
            <a:pPr>
              <a:lnSpc>
                <a:spcPts val="3034"/>
              </a:lnSpc>
            </a:pPr>
            <a:r>
              <a:rPr lang="en-US" sz="2078">
                <a:solidFill>
                  <a:srgbClr val="FFFFFF"/>
                </a:solidFill>
                <a:latin typeface="DM Sans"/>
              </a:rPr>
              <a:t>We're adding an option in the chatbot to access answers from ChatGPT or external sources. This offers students extra information beyond lectures, enriching their understanding and knowledge base.</a:t>
            </a:r>
          </a:p>
        </p:txBody>
      </p:sp>
      <p:sp>
        <p:nvSpPr>
          <p:cNvPr id="21" name="TextBox 21"/>
          <p:cNvSpPr txBox="1"/>
          <p:nvPr/>
        </p:nvSpPr>
        <p:spPr>
          <a:xfrm>
            <a:off x="3782804" y="2364682"/>
            <a:ext cx="6001096" cy="466077"/>
          </a:xfrm>
          <a:prstGeom prst="rect">
            <a:avLst/>
          </a:prstGeom>
        </p:spPr>
        <p:txBody>
          <a:bodyPr lIns="0" tIns="0" rIns="0" bIns="0" rtlCol="0" anchor="t">
            <a:spAutoFit/>
          </a:bodyPr>
          <a:lstStyle/>
          <a:p>
            <a:pPr>
              <a:lnSpc>
                <a:spcPts val="3768"/>
              </a:lnSpc>
            </a:pPr>
            <a:r>
              <a:rPr lang="en-US" sz="2711">
                <a:solidFill>
                  <a:srgbClr val="B100E8"/>
                </a:solidFill>
                <a:latin typeface="Now Bold"/>
              </a:rPr>
              <a:t>Expanded Information Resources</a:t>
            </a:r>
          </a:p>
        </p:txBody>
      </p:sp>
      <p:sp>
        <p:nvSpPr>
          <p:cNvPr id="22" name="TextBox 22"/>
          <p:cNvSpPr txBox="1"/>
          <p:nvPr/>
        </p:nvSpPr>
        <p:spPr>
          <a:xfrm>
            <a:off x="3782804" y="5408338"/>
            <a:ext cx="13126384" cy="1512519"/>
          </a:xfrm>
          <a:prstGeom prst="rect">
            <a:avLst/>
          </a:prstGeom>
        </p:spPr>
        <p:txBody>
          <a:bodyPr lIns="0" tIns="0" rIns="0" bIns="0" rtlCol="0" anchor="t">
            <a:spAutoFit/>
          </a:bodyPr>
          <a:lstStyle/>
          <a:p>
            <a:pPr>
              <a:lnSpc>
                <a:spcPts val="3034"/>
              </a:lnSpc>
            </a:pPr>
            <a:r>
              <a:rPr lang="en-US" sz="2078">
                <a:solidFill>
                  <a:srgbClr val="FFFFFF"/>
                </a:solidFill>
                <a:latin typeface="DM Sans"/>
              </a:rPr>
              <a:t>We're shifting from local storage to a scalable pipeline in a vector database for transcript and data management. This ensures efficient storage, retrieval, and management of large data volumes, facilitating scalability and performance optimization. Moreover, this transition enables students to access and ask questions from older sessions seamlessly.</a:t>
            </a:r>
          </a:p>
        </p:txBody>
      </p:sp>
      <p:sp>
        <p:nvSpPr>
          <p:cNvPr id="23" name="TextBox 23"/>
          <p:cNvSpPr txBox="1"/>
          <p:nvPr/>
        </p:nvSpPr>
        <p:spPr>
          <a:xfrm>
            <a:off x="3782804" y="4885494"/>
            <a:ext cx="6242199" cy="466077"/>
          </a:xfrm>
          <a:prstGeom prst="rect">
            <a:avLst/>
          </a:prstGeom>
        </p:spPr>
        <p:txBody>
          <a:bodyPr lIns="0" tIns="0" rIns="0" bIns="0" rtlCol="0" anchor="t">
            <a:spAutoFit/>
          </a:bodyPr>
          <a:lstStyle/>
          <a:p>
            <a:pPr>
              <a:lnSpc>
                <a:spcPts val="3768"/>
              </a:lnSpc>
            </a:pPr>
            <a:r>
              <a:rPr lang="en-US" sz="2711">
                <a:solidFill>
                  <a:srgbClr val="B100E8"/>
                </a:solidFill>
                <a:latin typeface="Now Bold"/>
              </a:rPr>
              <a:t>Scalable Data Management</a:t>
            </a:r>
          </a:p>
        </p:txBody>
      </p:sp>
      <p:sp>
        <p:nvSpPr>
          <p:cNvPr id="24" name="TextBox 24"/>
          <p:cNvSpPr txBox="1"/>
          <p:nvPr/>
        </p:nvSpPr>
        <p:spPr>
          <a:xfrm>
            <a:off x="3782804" y="7892493"/>
            <a:ext cx="13126384" cy="624790"/>
          </a:xfrm>
          <a:prstGeom prst="rect">
            <a:avLst/>
          </a:prstGeom>
        </p:spPr>
        <p:txBody>
          <a:bodyPr lIns="0" tIns="0" rIns="0" bIns="0" rtlCol="0" anchor="t">
            <a:spAutoFit/>
          </a:bodyPr>
          <a:lstStyle/>
          <a:p>
            <a:pPr>
              <a:lnSpc>
                <a:spcPts val="5224"/>
              </a:lnSpc>
            </a:pPr>
            <a:r>
              <a:rPr lang="en-US" sz="3578">
                <a:solidFill>
                  <a:srgbClr val="FFFFFF"/>
                </a:solidFill>
                <a:latin typeface="DM Sans"/>
              </a:rPr>
              <a:t>ABHI LIKHNA BAKI HAI </a:t>
            </a:r>
          </a:p>
        </p:txBody>
      </p:sp>
      <p:sp>
        <p:nvSpPr>
          <p:cNvPr id="25" name="TextBox 25"/>
          <p:cNvSpPr txBox="1"/>
          <p:nvPr/>
        </p:nvSpPr>
        <p:spPr>
          <a:xfrm>
            <a:off x="3782804" y="7388699"/>
            <a:ext cx="6885141" cy="454034"/>
          </a:xfrm>
          <a:prstGeom prst="rect">
            <a:avLst/>
          </a:prstGeom>
        </p:spPr>
        <p:txBody>
          <a:bodyPr lIns="0" tIns="0" rIns="0" bIns="0" rtlCol="0" anchor="t">
            <a:spAutoFit/>
          </a:bodyPr>
          <a:lstStyle/>
          <a:p>
            <a:pPr>
              <a:lnSpc>
                <a:spcPts val="3629"/>
              </a:lnSpc>
            </a:pPr>
            <a:r>
              <a:rPr lang="en-US" sz="2611">
                <a:solidFill>
                  <a:srgbClr val="B100E8"/>
                </a:solidFill>
                <a:latin typeface="Now Bold"/>
              </a:rPr>
              <a:t>Financial Benifit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stretch>
              <a:fillRect t="-38888" b="-38888"/>
            </a:stretch>
          </a:blipFill>
        </p:spPr>
      </p:sp>
      <p:sp>
        <p:nvSpPr>
          <p:cNvPr id="3" name="Freeform 3"/>
          <p:cNvSpPr/>
          <p:nvPr/>
        </p:nvSpPr>
        <p:spPr>
          <a:xfrm>
            <a:off x="14545481" y="-69377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alphaModFix amt="67000"/>
              <a:extLst>
                <a:ext uri="{96DAC541-7B7A-43D3-8B79-37D633B846F1}">
                  <asvg:svgBlip xmlns:asvg="http://schemas.microsoft.com/office/drawing/2016/SVG/main" r:embed="rId4"/>
                </a:ext>
              </a:extLst>
            </a:blip>
            <a:stretch>
              <a:fillRect/>
            </a:stretch>
          </a:blipFill>
        </p:spPr>
      </p:sp>
      <p:sp>
        <p:nvSpPr>
          <p:cNvPr id="4" name="Freeform 4"/>
          <p:cNvSpPr/>
          <p:nvPr/>
        </p:nvSpPr>
        <p:spPr>
          <a:xfrm>
            <a:off x="323812" y="325183"/>
            <a:ext cx="17640375" cy="9636634"/>
          </a:xfrm>
          <a:custGeom>
            <a:avLst/>
            <a:gdLst/>
            <a:ahLst/>
            <a:cxnLst/>
            <a:rect l="l" t="t" r="r" b="b"/>
            <a:pathLst>
              <a:path w="17640375" h="9636634">
                <a:moveTo>
                  <a:pt x="0" y="0"/>
                </a:moveTo>
                <a:lnTo>
                  <a:pt x="17640376" y="0"/>
                </a:lnTo>
                <a:lnTo>
                  <a:pt x="17640376" y="9636634"/>
                </a:lnTo>
                <a:lnTo>
                  <a:pt x="0" y="9636634"/>
                </a:lnTo>
                <a:lnTo>
                  <a:pt x="0" y="0"/>
                </a:lnTo>
                <a:close/>
              </a:path>
            </a:pathLst>
          </a:custGeom>
          <a:blipFill>
            <a:blip r:embed="rId5"/>
            <a:stretch>
              <a:fillRect t="-11209" b="-11209"/>
            </a:stretch>
          </a:blipFill>
        </p:spPr>
      </p:sp>
      <p:sp>
        <p:nvSpPr>
          <p:cNvPr id="5" name="Freeform 5"/>
          <p:cNvSpPr/>
          <p:nvPr/>
        </p:nvSpPr>
        <p:spPr>
          <a:xfrm rot="-6001244">
            <a:off x="10917706" y="7049713"/>
            <a:ext cx="14283863" cy="12962606"/>
          </a:xfrm>
          <a:custGeom>
            <a:avLst/>
            <a:gdLst/>
            <a:ahLst/>
            <a:cxnLst/>
            <a:rect l="l" t="t" r="r" b="b"/>
            <a:pathLst>
              <a:path w="14283863" h="12962606">
                <a:moveTo>
                  <a:pt x="0" y="0"/>
                </a:moveTo>
                <a:lnTo>
                  <a:pt x="14283863" y="0"/>
                </a:lnTo>
                <a:lnTo>
                  <a:pt x="14283863" y="12962606"/>
                </a:lnTo>
                <a:lnTo>
                  <a:pt x="0" y="12962606"/>
                </a:lnTo>
                <a:lnTo>
                  <a:pt x="0" y="0"/>
                </a:lnTo>
                <a:close/>
              </a:path>
            </a:pathLst>
          </a:custGeom>
          <a:blipFill>
            <a:blip r:embed="rId6"/>
            <a:stretch>
              <a:fillRect/>
            </a:stretch>
          </a:blipFill>
        </p:spPr>
      </p:sp>
      <p:sp>
        <p:nvSpPr>
          <p:cNvPr id="6" name="Freeform 6"/>
          <p:cNvSpPr/>
          <p:nvPr/>
        </p:nvSpPr>
        <p:spPr>
          <a:xfrm rot="1084654">
            <a:off x="-6628924" y="-8283079"/>
            <a:ext cx="12596877" cy="11431666"/>
          </a:xfrm>
          <a:custGeom>
            <a:avLst/>
            <a:gdLst/>
            <a:ahLst/>
            <a:cxnLst/>
            <a:rect l="l" t="t" r="r" b="b"/>
            <a:pathLst>
              <a:path w="12596877" h="11431666">
                <a:moveTo>
                  <a:pt x="0" y="0"/>
                </a:moveTo>
                <a:lnTo>
                  <a:pt x="12596877" y="0"/>
                </a:lnTo>
                <a:lnTo>
                  <a:pt x="12596877" y="11431667"/>
                </a:lnTo>
                <a:lnTo>
                  <a:pt x="0" y="11431667"/>
                </a:lnTo>
                <a:lnTo>
                  <a:pt x="0" y="0"/>
                </a:lnTo>
                <a:close/>
              </a:path>
            </a:pathLst>
          </a:custGeom>
          <a:blipFill>
            <a:blip r:embed="rId6"/>
            <a:stretch>
              <a:fillRect/>
            </a:stretch>
          </a:blipFill>
        </p:spPr>
      </p:sp>
      <p:sp>
        <p:nvSpPr>
          <p:cNvPr id="7" name="TextBox 7"/>
          <p:cNvSpPr txBox="1"/>
          <p:nvPr/>
        </p:nvSpPr>
        <p:spPr>
          <a:xfrm>
            <a:off x="3174944" y="590563"/>
            <a:ext cx="11370537" cy="1393731"/>
          </a:xfrm>
          <a:prstGeom prst="rect">
            <a:avLst/>
          </a:prstGeom>
        </p:spPr>
        <p:txBody>
          <a:bodyPr lIns="0" tIns="0" rIns="0" bIns="0" rtlCol="0" anchor="t">
            <a:spAutoFit/>
          </a:bodyPr>
          <a:lstStyle/>
          <a:p>
            <a:pPr algn="ctr">
              <a:lnSpc>
                <a:spcPts val="11242"/>
              </a:lnSpc>
            </a:pPr>
            <a:r>
              <a:rPr lang="en-US" sz="8087">
                <a:solidFill>
                  <a:srgbClr val="141313"/>
                </a:solidFill>
                <a:latin typeface="Now Bold"/>
              </a:rPr>
              <a:t>Q&amp;A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stretch>
              <a:fillRect t="-38888" b="-38888"/>
            </a:stretch>
          </a:blipFill>
        </p:spPr>
      </p:sp>
      <p:sp>
        <p:nvSpPr>
          <p:cNvPr id="3" name="Freeform 3"/>
          <p:cNvSpPr/>
          <p:nvPr/>
        </p:nvSpPr>
        <p:spPr>
          <a:xfrm rot="-6001244">
            <a:off x="10917706" y="7049713"/>
            <a:ext cx="14283863" cy="12962606"/>
          </a:xfrm>
          <a:custGeom>
            <a:avLst/>
            <a:gdLst/>
            <a:ahLst/>
            <a:cxnLst/>
            <a:rect l="l" t="t" r="r" b="b"/>
            <a:pathLst>
              <a:path w="14283863" h="12962606">
                <a:moveTo>
                  <a:pt x="0" y="0"/>
                </a:moveTo>
                <a:lnTo>
                  <a:pt x="14283863" y="0"/>
                </a:lnTo>
                <a:lnTo>
                  <a:pt x="14283863" y="12962606"/>
                </a:lnTo>
                <a:lnTo>
                  <a:pt x="0" y="12962606"/>
                </a:lnTo>
                <a:lnTo>
                  <a:pt x="0" y="0"/>
                </a:lnTo>
                <a:close/>
              </a:path>
            </a:pathLst>
          </a:custGeom>
          <a:blipFill>
            <a:blip r:embed="rId3"/>
            <a:stretch>
              <a:fillRect/>
            </a:stretch>
          </a:blipFill>
        </p:spPr>
      </p:sp>
      <p:sp>
        <p:nvSpPr>
          <p:cNvPr id="4" name="Freeform 4"/>
          <p:cNvSpPr/>
          <p:nvPr/>
        </p:nvSpPr>
        <p:spPr>
          <a:xfrm rot="1084654">
            <a:off x="-6628924" y="-8283079"/>
            <a:ext cx="12596877" cy="11431666"/>
          </a:xfrm>
          <a:custGeom>
            <a:avLst/>
            <a:gdLst/>
            <a:ahLst/>
            <a:cxnLst/>
            <a:rect l="l" t="t" r="r" b="b"/>
            <a:pathLst>
              <a:path w="12596877" h="11431666">
                <a:moveTo>
                  <a:pt x="0" y="0"/>
                </a:moveTo>
                <a:lnTo>
                  <a:pt x="12596877" y="0"/>
                </a:lnTo>
                <a:lnTo>
                  <a:pt x="12596877" y="11431667"/>
                </a:lnTo>
                <a:lnTo>
                  <a:pt x="0" y="11431667"/>
                </a:lnTo>
                <a:lnTo>
                  <a:pt x="0" y="0"/>
                </a:lnTo>
                <a:close/>
              </a:path>
            </a:pathLst>
          </a:custGeom>
          <a:blipFill>
            <a:blip r:embed="rId3"/>
            <a:stretch>
              <a:fillRect/>
            </a:stretch>
          </a:blipFill>
        </p:spPr>
      </p:sp>
      <p:sp>
        <p:nvSpPr>
          <p:cNvPr id="5" name="TextBox 5"/>
          <p:cNvSpPr txBox="1"/>
          <p:nvPr/>
        </p:nvSpPr>
        <p:spPr>
          <a:xfrm>
            <a:off x="5641449" y="5308774"/>
            <a:ext cx="6437528" cy="496572"/>
          </a:xfrm>
          <a:prstGeom prst="rect">
            <a:avLst/>
          </a:prstGeom>
        </p:spPr>
        <p:txBody>
          <a:bodyPr lIns="0" tIns="0" rIns="0" bIns="0" rtlCol="0" anchor="t">
            <a:spAutoFit/>
          </a:bodyPr>
          <a:lstStyle/>
          <a:p>
            <a:pPr algn="ctr">
              <a:lnSpc>
                <a:spcPts val="4007"/>
              </a:lnSpc>
            </a:pPr>
            <a:r>
              <a:rPr lang="en-US" sz="2925">
                <a:solidFill>
                  <a:srgbClr val="B100E8"/>
                </a:solidFill>
                <a:latin typeface="Now Bold"/>
              </a:rPr>
              <a:t>For watching this presentation</a:t>
            </a:r>
          </a:p>
        </p:txBody>
      </p:sp>
      <p:sp>
        <p:nvSpPr>
          <p:cNvPr id="6" name="Freeform 6"/>
          <p:cNvSpPr/>
          <p:nvPr/>
        </p:nvSpPr>
        <p:spPr>
          <a:xfrm>
            <a:off x="14545481" y="-69377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alphaModFix amt="67000"/>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3174944" y="3990926"/>
            <a:ext cx="11370537" cy="1384523"/>
          </a:xfrm>
          <a:prstGeom prst="rect">
            <a:avLst/>
          </a:prstGeom>
        </p:spPr>
        <p:txBody>
          <a:bodyPr lIns="0" tIns="0" rIns="0" bIns="0" rtlCol="0" anchor="t">
            <a:spAutoFit/>
          </a:bodyPr>
          <a:lstStyle/>
          <a:p>
            <a:pPr algn="ctr">
              <a:lnSpc>
                <a:spcPts val="11242"/>
              </a:lnSpc>
            </a:pPr>
            <a:r>
              <a:rPr lang="en-US" sz="8087">
                <a:solidFill>
                  <a:srgbClr val="048AFF"/>
                </a:solidFill>
                <a:latin typeface="Now Bold"/>
              </a:rPr>
              <a:t>THANK YOU</a:t>
            </a:r>
          </a:p>
        </p:txBody>
      </p:sp>
      <p:sp>
        <p:nvSpPr>
          <p:cNvPr id="8" name="TextBox 8"/>
          <p:cNvSpPr txBox="1"/>
          <p:nvPr/>
        </p:nvSpPr>
        <p:spPr>
          <a:xfrm>
            <a:off x="7063088" y="3183943"/>
            <a:ext cx="4161823" cy="464645"/>
          </a:xfrm>
          <a:prstGeom prst="rect">
            <a:avLst/>
          </a:prstGeom>
        </p:spPr>
        <p:txBody>
          <a:bodyPr lIns="0" tIns="0" rIns="0" bIns="0" rtlCol="0" anchor="t">
            <a:spAutoFit/>
          </a:bodyPr>
          <a:lstStyle/>
          <a:p>
            <a:pPr marL="0" lvl="0" indent="0" algn="l">
              <a:lnSpc>
                <a:spcPts val="3746"/>
              </a:lnSpc>
              <a:spcBef>
                <a:spcPct val="0"/>
              </a:spcBef>
            </a:pPr>
            <a:r>
              <a:rPr lang="en-US" sz="3045" spc="-60">
                <a:solidFill>
                  <a:srgbClr val="048AFF"/>
                </a:solidFill>
                <a:latin typeface="DM Sans Bold Italics"/>
              </a:rPr>
              <a:t>Deep Insight Crew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490</Words>
  <Application>Microsoft Office PowerPoint</Application>
  <PresentationFormat>Custom</PresentationFormat>
  <Paragraphs>40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Blue Professional Technology Business Project Presentation</dc:title>
  <cp:lastModifiedBy>mrutyunjay shukla</cp:lastModifiedBy>
  <cp:revision>3</cp:revision>
  <dcterms:created xsi:type="dcterms:W3CDTF">2006-08-16T00:00:00Z</dcterms:created>
  <dcterms:modified xsi:type="dcterms:W3CDTF">2024-10-24T14:06:24Z</dcterms:modified>
  <dc:identifier>DAGCAPjUtqA</dc:identifier>
</cp:coreProperties>
</file>